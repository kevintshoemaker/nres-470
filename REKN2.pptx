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15.jpg" ContentType="image/jpg"/>
  <Override PartName="/ppt/media/image21.jpg" ContentType="image/jpg"/>
  <Override PartName="/ppt/media/image22.jpg" ContentType="image/jpg"/>
  <Override PartName="/ppt/media/image23.jpg" ContentType="image/jpg"/>
  <Override PartName="/ppt/notesSlides/notesSlide5.xml" ContentType="application/vnd.openxmlformats-officedocument.presentationml.notesSlide+xml"/>
  <Override PartName="/ppt/media/image25.jpg" ContentType="image/jp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502" r:id="rId2"/>
    <p:sldId id="503" r:id="rId3"/>
    <p:sldId id="504" r:id="rId4"/>
    <p:sldId id="256" r:id="rId5"/>
    <p:sldId id="395" r:id="rId6"/>
    <p:sldId id="453" r:id="rId7"/>
    <p:sldId id="505" r:id="rId8"/>
    <p:sldId id="490" r:id="rId9"/>
    <p:sldId id="506" r:id="rId10"/>
    <p:sldId id="401" r:id="rId11"/>
    <p:sldId id="507" r:id="rId12"/>
    <p:sldId id="508" r:id="rId13"/>
    <p:sldId id="509" r:id="rId14"/>
    <p:sldId id="405" r:id="rId15"/>
    <p:sldId id="414" r:id="rId16"/>
    <p:sldId id="419" r:id="rId17"/>
    <p:sldId id="420" r:id="rId18"/>
    <p:sldId id="421" r:id="rId19"/>
    <p:sldId id="422" r:id="rId20"/>
    <p:sldId id="431" r:id="rId21"/>
    <p:sldId id="432" r:id="rId22"/>
    <p:sldId id="423" r:id="rId23"/>
    <p:sldId id="433" r:id="rId24"/>
    <p:sldId id="449" r:id="rId25"/>
    <p:sldId id="454" r:id="rId26"/>
    <p:sldId id="491" r:id="rId27"/>
    <p:sldId id="455" r:id="rId28"/>
    <p:sldId id="459" r:id="rId29"/>
    <p:sldId id="258" r:id="rId30"/>
    <p:sldId id="263" r:id="rId31"/>
    <p:sldId id="261" r:id="rId32"/>
    <p:sldId id="498" r:id="rId33"/>
    <p:sldId id="492" r:id="rId34"/>
    <p:sldId id="510" r:id="rId35"/>
    <p:sldId id="493" r:id="rId36"/>
    <p:sldId id="494" r:id="rId37"/>
    <p:sldId id="497" r:id="rId38"/>
    <p:sldId id="457" r:id="rId39"/>
    <p:sldId id="456" r:id="rId40"/>
    <p:sldId id="511" r:id="rId41"/>
    <p:sldId id="512" r:id="rId42"/>
    <p:sldId id="495" r:id="rId43"/>
    <p:sldId id="482" r:id="rId44"/>
    <p:sldId id="383" r:id="rId45"/>
    <p:sldId id="499" r:id="rId46"/>
    <p:sldId id="500" r:id="rId47"/>
    <p:sldId id="501" r:id="rId48"/>
    <p:sldId id="462" r:id="rId49"/>
    <p:sldId id="522" r:id="rId50"/>
    <p:sldId id="471" r:id="rId51"/>
    <p:sldId id="362" r:id="rId52"/>
    <p:sldId id="523"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44" d="100"/>
          <a:sy n="44" d="100"/>
        </p:scale>
        <p:origin x="1372" y="4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endangered species, we need to run </a:t>
            </a:r>
            <a:r>
              <a:rPr lang="en-US" b="1" dirty="0"/>
              <a:t>experiments</a:t>
            </a:r>
            <a:r>
              <a:rPr lang="en-US" dirty="0"/>
              <a:t>. </a:t>
            </a:r>
          </a:p>
          <a:p>
            <a:pPr marL="0" indent="0"/>
            <a:r>
              <a:rPr lang="en-US" dirty="0"/>
              <a:t>However,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 has</a:t>
            </a:r>
            <a:r>
              <a:rPr lang="en-US" baseline="0" dirty="0"/>
              <a:t> traditionally been </a:t>
            </a:r>
            <a:r>
              <a:rPr lang="en-US" dirty="0"/>
              <a:t>performed using </a:t>
            </a:r>
            <a:r>
              <a:rPr lang="en-US" b="1" dirty="0"/>
              <a:t>stand-alone software packages </a:t>
            </a:r>
            <a:r>
              <a:rPr lang="en-US" dirty="0"/>
              <a:t>like Vortex, </a:t>
            </a:r>
            <a:r>
              <a:rPr lang="en-US" dirty="0" err="1"/>
              <a:t>Ramas</a:t>
            </a:r>
            <a:r>
              <a:rPr lang="en-US" dirty="0"/>
              <a:t>, and </a:t>
            </a:r>
            <a:r>
              <a:rPr lang="en-US" dirty="0" err="1"/>
              <a:t>HexSim</a:t>
            </a:r>
            <a:r>
              <a:rPr lang="en-US" dirty="0"/>
              <a:t> [show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1</a:t>
            </a:fld>
            <a:endParaRPr/>
          </a:p>
        </p:txBody>
      </p:sp>
    </p:spTree>
    <p:extLst>
      <p:ext uri="{BB962C8B-B14F-4D97-AF65-F5344CB8AC3E}">
        <p14:creationId xmlns:p14="http://schemas.microsoft.com/office/powerpoint/2010/main" val="41926132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Now,</a:t>
            </a:r>
            <a:r>
              <a:rPr lang="en-US" baseline="0" dirty="0"/>
              <a:t> the questions we are attempting to address using </a:t>
            </a:r>
            <a:r>
              <a:rPr lang="en-US" dirty="0"/>
              <a:t>PVA are</a:t>
            </a:r>
            <a:r>
              <a:rPr lang="en-US" baseline="0" dirty="0"/>
              <a:t> rapidly </a:t>
            </a:r>
            <a:r>
              <a:rPr lang="en-US" b="1" baseline="0" dirty="0"/>
              <a:t>becoming more complex</a:t>
            </a:r>
            <a:r>
              <a:rPr lang="en-US" baseline="0" dirty="0"/>
              <a:t>, motivated by the needs of </a:t>
            </a:r>
            <a:r>
              <a:rPr lang="en-US" b="1" baseline="0" dirty="0"/>
              <a:t>conservation organizations and governmental agencies</a:t>
            </a:r>
            <a:r>
              <a:rPr lang="en-US" baseline="0" dirty="0"/>
              <a:t>. </a:t>
            </a:r>
          </a:p>
          <a:p>
            <a:pPr marL="0" indent="0"/>
            <a:r>
              <a:rPr lang="en-US" baseline="0" dirty="0"/>
              <a:t>For example, my lab recently built a PVA to </a:t>
            </a:r>
            <a:r>
              <a:rPr lang="en-US" dirty="0"/>
              <a:t>assess the impact of climate-change across the entire range of the</a:t>
            </a:r>
            <a:r>
              <a:rPr lang="en-US" baseline="0" dirty="0"/>
              <a:t> Mojave Desert Tortoise</a:t>
            </a:r>
            <a:r>
              <a:rPr lang="en-US" dirty="0"/>
              <a:t>. </a:t>
            </a:r>
          </a:p>
          <a:p>
            <a:pPr marL="0" indent="0"/>
            <a:r>
              <a:rPr lang="en-US" dirty="0"/>
              <a:t>Furthermore,</a:t>
            </a:r>
            <a:r>
              <a:rPr lang="en-US" baseline="0" dirty="0"/>
              <a:t> </a:t>
            </a:r>
            <a:r>
              <a:rPr lang="en-US" dirty="0"/>
              <a:t>conservation organizations and governmental agencies are becoming as interested in </a:t>
            </a:r>
            <a:r>
              <a:rPr lang="en-US" b="1" dirty="0"/>
              <a:t>preserving and restoring the ecosystem functions of species</a:t>
            </a:r>
            <a:r>
              <a:rPr lang="en-US" baseline="0" dirty="0"/>
              <a:t> </a:t>
            </a:r>
            <a:r>
              <a:rPr lang="en-US" dirty="0"/>
              <a:t>as they are in preventing the extinction of species – and this can necessitate</a:t>
            </a:r>
            <a:r>
              <a:rPr lang="en-US" baseline="0" dirty="0"/>
              <a:t> </a:t>
            </a:r>
            <a:r>
              <a:rPr lang="en-US" dirty="0"/>
              <a:t>more complex simulation models that</a:t>
            </a:r>
            <a:r>
              <a:rPr lang="en-US" baseline="0" dirty="0"/>
              <a:t> include </a:t>
            </a:r>
            <a:r>
              <a:rPr lang="en-US" b="1" baseline="0" dirty="0"/>
              <a:t>multiple interacting species</a:t>
            </a:r>
            <a:r>
              <a:rPr lang="en-US" baseline="0" dirty="0"/>
              <a:t>!</a:t>
            </a:r>
            <a:r>
              <a:rPr lang="en-US" dirty="0"/>
              <a:t> </a:t>
            </a:r>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p>
          <a:p>
            <a:pPr marL="0" indent="0"/>
            <a:r>
              <a:rPr lang="en-US" dirty="0"/>
              <a:t>As 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2</a:t>
            </a:fld>
            <a:endParaRPr/>
          </a:p>
        </p:txBody>
      </p:sp>
    </p:spTree>
    <p:extLst>
      <p:ext uri="{BB962C8B-B14F-4D97-AF65-F5344CB8AC3E}">
        <p14:creationId xmlns:p14="http://schemas.microsoft.com/office/powerpoint/2010/main" val="30865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bar 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of the original PVA model agree with us and are currently working to </a:t>
            </a:r>
            <a:r>
              <a:rPr lang="en-US" b="1" dirty="0"/>
              <a:t>correct the record</a:t>
            </a:r>
            <a:r>
              <a:rPr lang="en-US" dirty="0"/>
              <a:t>. </a:t>
            </a:r>
          </a:p>
          <a:p>
            <a:pPr marL="0" indent="0"/>
            <a:r>
              <a:rPr lang="en-US" dirty="0"/>
              <a:t>Nonetheless,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a:t>
            </a:fld>
            <a:endParaRPr/>
          </a:p>
        </p:txBody>
      </p:sp>
    </p:spTree>
    <p:extLst>
      <p:ext uri="{BB962C8B-B14F-4D97-AF65-F5344CB8AC3E}">
        <p14:creationId xmlns:p14="http://schemas.microsoft.com/office/powerpoint/2010/main" val="16390523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21</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Illustrates how PVA intersects with decision analysis. </a:t>
            </a:r>
          </a:p>
        </p:txBody>
      </p:sp>
      <p:sp>
        <p:nvSpPr>
          <p:cNvPr id="4" name="Slide Number Placeholder 3"/>
          <p:cNvSpPr>
            <a:spLocks noGrp="1"/>
          </p:cNvSpPr>
          <p:nvPr>
            <p:ph type="sldNum" sz="quarter" idx="5"/>
          </p:nvPr>
        </p:nvSpPr>
        <p:spPr/>
        <p:txBody>
          <a:bodyPr/>
          <a:lstStyle/>
          <a:p>
            <a:fld id="{047B4AE8-1075-48E4-9F0E-14AAFCA87C11}" type="slidenum">
              <a:rPr lang="en-US" smtClean="0"/>
              <a:t>22</a:t>
            </a:fld>
            <a:endParaRPr lang="en-US"/>
          </a:p>
        </p:txBody>
      </p:sp>
    </p:spTree>
    <p:extLst>
      <p:ext uri="{BB962C8B-B14F-4D97-AF65-F5344CB8AC3E}">
        <p14:creationId xmlns:p14="http://schemas.microsoft.com/office/powerpoint/2010/main" val="9988988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30</a:t>
            </a:fld>
            <a:endParaRPr lang="en-US"/>
          </a:p>
        </p:txBody>
      </p:sp>
    </p:spTree>
    <p:extLst>
      <p:ext uri="{BB962C8B-B14F-4D97-AF65-F5344CB8AC3E}">
        <p14:creationId xmlns:p14="http://schemas.microsoft.com/office/powerpoint/2010/main" val="28437387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33</a:t>
            </a:fld>
            <a:endParaRPr lang="en-US"/>
          </a:p>
        </p:txBody>
      </p:sp>
    </p:spTree>
    <p:extLst>
      <p:ext uri="{BB962C8B-B14F-4D97-AF65-F5344CB8AC3E}">
        <p14:creationId xmlns:p14="http://schemas.microsoft.com/office/powerpoint/2010/main" val="30229679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44</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50</a:t>
            </a:fld>
            <a:endParaRPr lang="en-US"/>
          </a:p>
        </p:txBody>
      </p:sp>
    </p:spTree>
    <p:extLst>
      <p:ext uri="{BB962C8B-B14F-4D97-AF65-F5344CB8AC3E}">
        <p14:creationId xmlns:p14="http://schemas.microsoft.com/office/powerpoint/2010/main" val="805371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4/3/2024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4/3/2024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4/3/2024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4/3/2024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4/3/2024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4/3/2024</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8.png"/><Relationship Id="rId1" Type="http://schemas.openxmlformats.org/officeDocument/2006/relationships/slideLayout" Target="../slideLayouts/slideLayout6.xml"/><Relationship Id="rId4" Type="http://schemas.openxmlformats.org/officeDocument/2006/relationships/image" Target="../media/image9.jpe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70.png"/><Relationship Id="rId1" Type="http://schemas.openxmlformats.org/officeDocument/2006/relationships/slideLayout" Target="../slideLayouts/slideLayout2.xml"/><Relationship Id="rId4" Type="http://schemas.openxmlformats.org/officeDocument/2006/relationships/image" Target="../media/image30.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a:alphaModFix/>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a:alphaModFix/>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16961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3597844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a:alphaModFix/>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0928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8300" y="-463801"/>
            <a:ext cx="4237732" cy="555877"/>
          </a:xfrm>
        </p:spPr>
        <p:txBody>
          <a:bodyPr>
            <a:normAutofit fontScale="90000"/>
          </a:bodyPr>
          <a:lstStyle/>
          <a:p>
            <a:endParaRPr lang="en-US"/>
          </a:p>
        </p:txBody>
      </p:sp>
      <p:sp>
        <p:nvSpPr>
          <p:cNvPr id="3" name="Content Placeholder 2"/>
          <p:cNvSpPr>
            <a:spLocks noGrp="1"/>
          </p:cNvSpPr>
          <p:nvPr>
            <p:ph idx="1"/>
          </p:nvPr>
        </p:nvSpPr>
        <p:spPr>
          <a:xfrm>
            <a:off x="1638300" y="2753609"/>
            <a:ext cx="4237732" cy="1824741"/>
          </a:xfrm>
        </p:spPr>
        <p:txBody>
          <a:bodyPr/>
          <a:lstStyle/>
          <a:p>
            <a:endParaRPr lang="en-US"/>
          </a:p>
        </p:txBody>
      </p:sp>
      <p:pic>
        <p:nvPicPr>
          <p:cNvPr id="1026" name="Picture 2" descr="An open hand displays nonviable horseshoe crab eggs mixed in with sand and other debri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55675" y="39687"/>
            <a:ext cx="10225472" cy="6818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8737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Biomedical labs bleed horseshoe crabs for vaccines with little  accountability : N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50999" y="522091"/>
            <a:ext cx="8528769" cy="5675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078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5023170"/>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Unregulated harvest of Horseshoe Crabs (HSC) </a:t>
            </a:r>
          </a:p>
          <a:p>
            <a:pPr marL="1727200" lvl="3" indent="-342900">
              <a:spcBef>
                <a:spcPts val="770"/>
              </a:spcBef>
              <a:buFont typeface="Arial"/>
              <a:buChar char="•"/>
              <a:tabLst>
                <a:tab pos="354965" algn="l"/>
                <a:tab pos="355600" algn="l"/>
              </a:tabLst>
            </a:pPr>
            <a:r>
              <a:rPr lang="en-US" sz="2400" dirty="0">
                <a:latin typeface="Calibri"/>
                <a:cs typeface="Calibri"/>
              </a:rPr>
              <a:t>Aerial shorebird counts: decline in </a:t>
            </a:r>
            <a:r>
              <a:rPr lang="en-US" sz="2400" i="1" dirty="0" err="1">
                <a:latin typeface="Calibri"/>
                <a:cs typeface="Calibri"/>
              </a:rPr>
              <a:t>Rufa</a:t>
            </a:r>
            <a:r>
              <a:rPr lang="en-US" sz="2400" dirty="0">
                <a:latin typeface="Calibri"/>
                <a:cs typeface="Calibri"/>
              </a:rPr>
              <a:t> Red Knot (REKN) population</a:t>
            </a:r>
          </a:p>
          <a:p>
            <a:pPr marL="1727200" lvl="3" indent="-342900">
              <a:spcBef>
                <a:spcPts val="770"/>
              </a:spcBef>
              <a:buFont typeface="Arial"/>
              <a:buChar char="•"/>
              <a:tabLst>
                <a:tab pos="354965" algn="l"/>
                <a:tab pos="355600" algn="l"/>
              </a:tabLst>
            </a:pPr>
            <a:r>
              <a:rPr lang="en-US" sz="2400" dirty="0">
                <a:latin typeface="Calibri"/>
                <a:cs typeface="Calibri"/>
              </a:rPr>
              <a:t>Horseshoe Crab harvest</a:t>
            </a:r>
            <a:r>
              <a:rPr sz="2400" dirty="0">
                <a:latin typeface="Calibri"/>
                <a:cs typeface="Calibri"/>
              </a:rPr>
              <a:t> </a:t>
            </a:r>
            <a:r>
              <a:rPr lang="en-US" sz="2400" dirty="0">
                <a:latin typeface="Calibri"/>
                <a:cs typeface="Calibri"/>
              </a:rPr>
              <a:t>regulations</a:t>
            </a:r>
            <a:r>
              <a:rPr sz="2400" dirty="0">
                <a:latin typeface="Calibri"/>
                <a:cs typeface="Calibri"/>
              </a:rPr>
              <a:t> approved</a:t>
            </a:r>
          </a:p>
          <a:p>
            <a:pPr marL="355600" marR="885190" indent="-342900">
              <a:spcBef>
                <a:spcPts val="770"/>
              </a:spcBef>
              <a:buFont typeface="Arial"/>
              <a:buChar char="•"/>
              <a:tabLst>
                <a:tab pos="354965" algn="l"/>
                <a:tab pos="355600" algn="l"/>
              </a:tabLst>
            </a:pPr>
            <a:r>
              <a:rPr sz="2800" dirty="0">
                <a:latin typeface="Calibri"/>
                <a:cs typeface="Calibri"/>
              </a:rPr>
              <a:t>200</a:t>
            </a:r>
            <a:r>
              <a:rPr lang="en-US" sz="2800" dirty="0">
                <a:latin typeface="Calibri"/>
                <a:cs typeface="Calibri"/>
              </a:rPr>
              <a:t>0s: Begin </a:t>
            </a:r>
            <a:r>
              <a:rPr lang="en-US" sz="2800" dirty="0">
                <a:cs typeface="Calibri"/>
              </a:rPr>
              <a:t>rigorous monitoring programs for REKN and HSC</a:t>
            </a:r>
            <a:endParaRPr lang="en-US" sz="2800" dirty="0">
              <a:latin typeface="Calibri"/>
              <a:cs typeface="Calibri"/>
            </a:endParaRPr>
          </a:p>
          <a:p>
            <a:pPr marL="355600" marR="1015365" indent="-342900">
              <a:spcBef>
                <a:spcPts val="770"/>
              </a:spcBef>
              <a:buFont typeface="Arial"/>
              <a:buChar char="•"/>
              <a:tabLst>
                <a:tab pos="354965" algn="l"/>
                <a:tab pos="355600" algn="l"/>
              </a:tabLst>
            </a:pPr>
            <a:r>
              <a:rPr sz="2800" dirty="0">
                <a:latin typeface="Calibri"/>
                <a:cs typeface="Calibri"/>
              </a:rPr>
              <a:t>2</a:t>
            </a:r>
            <a:r>
              <a:rPr lang="en-US" sz="2800" dirty="0">
                <a:latin typeface="Calibri"/>
                <a:cs typeface="Calibri"/>
              </a:rPr>
              <a:t>010s: Adaptive Resource Management (</a:t>
            </a:r>
            <a:r>
              <a:rPr sz="2800" dirty="0">
                <a:latin typeface="Calibri"/>
                <a:cs typeface="Calibri"/>
              </a:rPr>
              <a:t>ARM</a:t>
            </a:r>
            <a:r>
              <a:rPr lang="en-US" sz="2800" dirty="0">
                <a:latin typeface="Calibri"/>
                <a:cs typeface="Calibri"/>
              </a:rPr>
              <a:t>) framework</a:t>
            </a:r>
          </a:p>
          <a:p>
            <a:pPr marL="1727200" marR="1015365" lvl="3" indent="-342900">
              <a:spcBef>
                <a:spcPts val="770"/>
              </a:spcBef>
              <a:buFont typeface="Arial"/>
              <a:buChar char="•"/>
              <a:tabLst>
                <a:tab pos="354965" algn="l"/>
                <a:tab pos="355600" algn="l"/>
              </a:tabLst>
            </a:pPr>
            <a:r>
              <a:rPr lang="en-US" sz="2400" dirty="0">
                <a:latin typeface="Calibri"/>
                <a:cs typeface="Calibri"/>
              </a:rPr>
              <a:t>Two species approach: maximize HSC harvest, minimize risk to REKN</a:t>
            </a:r>
          </a:p>
          <a:p>
            <a:pPr marL="1727200" marR="1015365" lvl="3" indent="-342900">
              <a:spcBef>
                <a:spcPts val="770"/>
              </a:spcBef>
              <a:buFont typeface="Arial"/>
              <a:buChar char="•"/>
              <a:tabLst>
                <a:tab pos="354965" algn="l"/>
                <a:tab pos="355600" algn="l"/>
              </a:tabLst>
            </a:pPr>
            <a:r>
              <a:rPr lang="en-US" sz="2400" dirty="0">
                <a:latin typeface="Calibri"/>
                <a:cs typeface="Calibri"/>
              </a:rPr>
              <a:t>REKN listed under ESA -- HSC harvest identified as major threat</a:t>
            </a:r>
          </a:p>
          <a:p>
            <a:pPr marL="355600" marR="5080" indent="-342900">
              <a:spcBef>
                <a:spcPts val="770"/>
              </a:spcBef>
              <a:buFont typeface="Arial"/>
              <a:buChar char="•"/>
              <a:tabLst>
                <a:tab pos="354965" algn="l"/>
                <a:tab pos="355600" algn="l"/>
              </a:tabLst>
            </a:pPr>
            <a:r>
              <a:rPr lang="en-US" sz="2800" dirty="0">
                <a:latin typeface="Calibri"/>
                <a:cs typeface="Calibri"/>
              </a:rPr>
              <a:t>2020s: Revised two-species ARM</a:t>
            </a:r>
          </a:p>
          <a:p>
            <a:pPr marL="1727200" marR="5080" lvl="3" indent="-342900">
              <a:spcBef>
                <a:spcPts val="770"/>
              </a:spcBef>
              <a:buFont typeface="Arial"/>
              <a:buChar char="•"/>
              <a:tabLst>
                <a:tab pos="354965" algn="l"/>
                <a:tab pos="355600" algn="l"/>
              </a:tabLst>
            </a:pPr>
            <a:r>
              <a:rPr lang="en-US" sz="2400" dirty="0">
                <a:latin typeface="Calibri"/>
                <a:cs typeface="Calibri"/>
              </a:rPr>
              <a:t>Outdated software and methods- need to update!</a:t>
            </a:r>
          </a:p>
          <a:p>
            <a:pPr marL="1727200" marR="5080" lvl="3" indent="-342900">
              <a:spcBef>
                <a:spcPts val="770"/>
              </a:spcBef>
              <a:buFont typeface="Arial"/>
              <a:buChar char="•"/>
              <a:tabLst>
                <a:tab pos="354965" algn="l"/>
                <a:tab pos="355600" algn="l"/>
              </a:tabLst>
            </a:pPr>
            <a:r>
              <a:rPr lang="en-US" sz="2400" dirty="0">
                <a:latin typeface="Calibri"/>
                <a:cs typeface="Calibri"/>
              </a:rPr>
              <a:t>Revised ARM instituted in 2023!</a:t>
            </a:r>
            <a:endParaRPr sz="2400" dirty="0">
              <a:latin typeface="Calibri"/>
              <a:cs typeface="Calibri"/>
            </a:endParaRPr>
          </a:p>
        </p:txBody>
      </p:sp>
      <p:sp>
        <p:nvSpPr>
          <p:cNvPr id="10" name="object 10"/>
          <p:cNvSpPr txBox="1">
            <a:spLocks noGrp="1"/>
          </p:cNvSpPr>
          <p:nvPr>
            <p:ph type="title"/>
          </p:nvPr>
        </p:nvSpPr>
        <p:spPr>
          <a:xfrm>
            <a:off x="753762" y="436815"/>
            <a:ext cx="10320638"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Management</a:t>
            </a:r>
            <a:r>
              <a:rPr sz="3600" b="1" spc="-50" dirty="0"/>
              <a:t> </a:t>
            </a:r>
            <a:r>
              <a:rPr lang="en-US" sz="3600" b="1" spc="-50" dirty="0"/>
              <a:t>and Monitoring </a:t>
            </a:r>
            <a:r>
              <a:rPr sz="3600" b="1" spc="-10" dirty="0"/>
              <a:t>History</a:t>
            </a:r>
            <a:r>
              <a:rPr lang="en-US" sz="3600" b="1" spc="-10" dirty="0"/>
              <a:t> for Horseshoe Crabs and Red Knots</a:t>
            </a:r>
            <a:endParaRPr sz="3600" b="1" dirty="0"/>
          </a:p>
        </p:txBody>
      </p:sp>
    </p:spTree>
    <p:extLst>
      <p:ext uri="{BB962C8B-B14F-4D97-AF65-F5344CB8AC3E}">
        <p14:creationId xmlns:p14="http://schemas.microsoft.com/office/powerpoint/2010/main" val="3231960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417E-233D-549D-2568-4D8A4AB1BC8B}"/>
              </a:ext>
            </a:extLst>
          </p:cNvPr>
          <p:cNvSpPr>
            <a:spLocks noGrp="1"/>
          </p:cNvSpPr>
          <p:nvPr>
            <p:ph type="title"/>
          </p:nvPr>
        </p:nvSpPr>
        <p:spPr/>
        <p:txBody>
          <a:bodyPr/>
          <a:lstStyle/>
          <a:p>
            <a:r>
              <a:rPr lang="en-US" b="1" dirty="0"/>
              <a:t>Monitoring data</a:t>
            </a:r>
          </a:p>
        </p:txBody>
      </p:sp>
      <p:sp>
        <p:nvSpPr>
          <p:cNvPr id="3" name="Content Placeholder 2">
            <a:extLst>
              <a:ext uri="{FF2B5EF4-FFF2-40B4-BE49-F238E27FC236}">
                <a16:creationId xmlns:a16="http://schemas.microsoft.com/office/drawing/2014/main" id="{E1248EB3-5D6B-4F3F-6267-0C925400DCC6}"/>
              </a:ext>
            </a:extLst>
          </p:cNvPr>
          <p:cNvSpPr>
            <a:spLocks noGrp="1"/>
          </p:cNvSpPr>
          <p:nvPr>
            <p:ph idx="1"/>
          </p:nvPr>
        </p:nvSpPr>
        <p:spPr/>
        <p:txBody>
          <a:bodyPr>
            <a:normAutofit lnSpcReduction="10000"/>
          </a:bodyPr>
          <a:lstStyle/>
          <a:p>
            <a:r>
              <a:rPr lang="en-US" sz="3200" b="1" dirty="0"/>
              <a:t>Horseshoe crab</a:t>
            </a:r>
          </a:p>
          <a:p>
            <a:pPr lvl="1"/>
            <a:r>
              <a:rPr lang="en-US" sz="2800" dirty="0"/>
              <a:t>Trawl surveys: DE (since 1990), NJ (since 1995) and Virginia Tech (since 2003)</a:t>
            </a:r>
          </a:p>
          <a:p>
            <a:pPr lvl="1"/>
            <a:r>
              <a:rPr lang="en-US" sz="2800" dirty="0"/>
              <a:t>Spawning surveys since 1999 (citizen science!)</a:t>
            </a:r>
          </a:p>
          <a:p>
            <a:pPr lvl="1"/>
            <a:r>
              <a:rPr lang="en-US" sz="2800" dirty="0"/>
              <a:t>Egg density surveys (since 2000)</a:t>
            </a:r>
          </a:p>
          <a:p>
            <a:pPr marL="457200" lvl="1" indent="0">
              <a:buNone/>
            </a:pPr>
            <a:endParaRPr lang="en-US" sz="2800" dirty="0"/>
          </a:p>
          <a:p>
            <a:r>
              <a:rPr lang="en-US" sz="3200" b="1" dirty="0"/>
              <a:t>Red Knot</a:t>
            </a:r>
          </a:p>
          <a:p>
            <a:pPr lvl="1"/>
            <a:r>
              <a:rPr lang="en-US" sz="2800" dirty="0"/>
              <a:t>Aerial counts (since 1986)</a:t>
            </a:r>
          </a:p>
          <a:p>
            <a:pPr lvl="1"/>
            <a:r>
              <a:rPr lang="en-US" sz="2800" dirty="0"/>
              <a:t>Capture/banding records (since early 1900s)</a:t>
            </a:r>
          </a:p>
          <a:p>
            <a:pPr lvl="1"/>
            <a:r>
              <a:rPr lang="en-US" sz="2800" dirty="0"/>
              <a:t>Resighting records (since 2003)</a:t>
            </a:r>
          </a:p>
        </p:txBody>
      </p:sp>
    </p:spTree>
    <p:extLst>
      <p:ext uri="{BB962C8B-B14F-4D97-AF65-F5344CB8AC3E}">
        <p14:creationId xmlns:p14="http://schemas.microsoft.com/office/powerpoint/2010/main" val="12903508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Picture of a 3-character lime green leg flag on a Red Knot in Delaware, USA. This flag was deployed in 2014 and the photograph was taken in 2017. Photograph by Jean Hall.">
            <a:extLst>
              <a:ext uri="{FF2B5EF4-FFF2-40B4-BE49-F238E27FC236}">
                <a16:creationId xmlns:a16="http://schemas.microsoft.com/office/drawing/2014/main" id="{45220940-5B7F-2EEE-D113-567B6D0999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14317" y="730915"/>
            <a:ext cx="7563365" cy="53961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2650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2434303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2450933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stretch>
              <a:fillRect/>
            </a:stretch>
          </a:blipFill>
        </p:spPr>
        <p:txBody>
          <a:bodyPr wrap="square" lIns="0" tIns="0" rIns="0" bIns="0" rtlCol="0"/>
          <a:lstStyle/>
          <a:p>
            <a:endParaRPr/>
          </a:p>
        </p:txBody>
      </p:sp>
      <p:sp>
        <p:nvSpPr>
          <p:cNvPr id="4" name="Oval 3">
            <a:extLst>
              <a:ext uri="{FF2B5EF4-FFF2-40B4-BE49-F238E27FC236}">
                <a16:creationId xmlns:a16="http://schemas.microsoft.com/office/drawing/2014/main" id="{63AA141A-A485-3E9F-9640-5688A4DBC049}"/>
              </a:ext>
            </a:extLst>
          </p:cNvPr>
          <p:cNvSpPr/>
          <p:nvPr/>
        </p:nvSpPr>
        <p:spPr>
          <a:xfrm>
            <a:off x="3305140" y="3033486"/>
            <a:ext cx="6309775" cy="986971"/>
          </a:xfrm>
          <a:prstGeom prst="ellips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Box 4"/>
          <p:cNvSpPr txBox="1"/>
          <p:nvPr/>
        </p:nvSpPr>
        <p:spPr>
          <a:xfrm>
            <a:off x="10221239" y="6338170"/>
            <a:ext cx="1515649"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326405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982554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Viability Analysis (PVA) </a:t>
            </a:r>
            <a:r>
              <a:rPr sz="3600" b="1" spc="-10" dirty="0"/>
              <a:t>Models</a:t>
            </a:r>
            <a:endParaRPr sz="3600" b="1" dirty="0"/>
          </a:p>
        </p:txBody>
      </p:sp>
      <p:sp>
        <p:nvSpPr>
          <p:cNvPr id="9" name="object 9"/>
          <p:cNvSpPr txBox="1"/>
          <p:nvPr/>
        </p:nvSpPr>
        <p:spPr>
          <a:xfrm>
            <a:off x="1047750" y="1470992"/>
            <a:ext cx="10096500" cy="4875694"/>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B</a:t>
            </a:r>
            <a:r>
              <a:rPr sz="2800" spc="-5" dirty="0">
                <a:latin typeface="Calibri"/>
                <a:cs typeface="Calibri"/>
              </a:rPr>
              <a:t>ased </a:t>
            </a:r>
            <a:r>
              <a:rPr lang="en-US" sz="2800" spc="-5" dirty="0">
                <a:latin typeface="Calibri"/>
                <a:cs typeface="Calibri"/>
              </a:rPr>
              <a:t>loosely </a:t>
            </a:r>
            <a:r>
              <a:rPr sz="2800" spc="-5" dirty="0">
                <a:latin typeface="Calibri"/>
                <a:cs typeface="Calibri"/>
              </a:rPr>
              <a:t>on</a:t>
            </a:r>
            <a:r>
              <a:rPr sz="2800" spc="5" dirty="0">
                <a:latin typeface="Calibri"/>
                <a:cs typeface="Calibri"/>
              </a:rPr>
              <a:t> </a:t>
            </a:r>
            <a:r>
              <a:rPr sz="2800" spc="-5" dirty="0">
                <a:latin typeface="Calibri"/>
                <a:cs typeface="Calibri"/>
              </a:rPr>
              <a:t>CMS</a:t>
            </a:r>
            <a:r>
              <a:rPr lang="en-US" sz="2800" spc="-5" dirty="0">
                <a:latin typeface="Calibri"/>
                <a:cs typeface="Calibri"/>
              </a:rPr>
              <a:t>A results</a:t>
            </a:r>
          </a:p>
          <a:p>
            <a:pPr marL="1384300" lvl="2"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841500" lvl="3" indent="-457834">
              <a:buFont typeface="Arial"/>
              <a:buChar char="•"/>
              <a:tabLst>
                <a:tab pos="926465" algn="l"/>
                <a:tab pos="927100" algn="l"/>
              </a:tabLst>
            </a:pPr>
            <a:r>
              <a:rPr lang="en-US" sz="2400" spc="-10" dirty="0">
                <a:latin typeface="Calibri"/>
                <a:cs typeface="Calibri"/>
              </a:rPr>
              <a:t>Fit a distribution to the CMSA results (bivariate lognormal)</a:t>
            </a:r>
          </a:p>
          <a:p>
            <a:pPr marL="1384300" marR="32384" lvl="2"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32032308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a:latin typeface="Times New Roman"/>
                <a:cs typeface="Times New Roman"/>
              </a:rPr>
              <a:t>r</a:t>
            </a:r>
            <a:r>
              <a:rPr sz="2400" i="1" spc="7" baseline="-21367" dirty="0">
                <a:latin typeface="Times New Roman"/>
                <a:cs typeface="Times New Roman"/>
              </a:rPr>
              <a:t>y </a:t>
            </a:r>
            <a:r>
              <a:rPr sz="2800" spc="-5" dirty="0">
                <a:latin typeface="Times New Roman"/>
                <a:cs typeface="Times New Roman"/>
              </a:rPr>
              <a:t>= (0 ,</a:t>
            </a:r>
            <a:r>
              <a:rPr sz="2800" spc="-90" dirty="0">
                <a:latin typeface="Times New Roman"/>
                <a:cs typeface="Times New Roman"/>
              </a:rPr>
              <a:t> </a:t>
            </a:r>
            <a:r>
              <a:rPr sz="2800" spc="-5" dirty="0">
                <a:latin typeface="Times New Roman"/>
                <a:cs typeface="Times New Roman"/>
              </a:rPr>
              <a:t>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3"/>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
        <p:nvSpPr>
          <p:cNvPr id="2" name="Oval 1">
            <a:extLst>
              <a:ext uri="{FF2B5EF4-FFF2-40B4-BE49-F238E27FC236}">
                <a16:creationId xmlns:a16="http://schemas.microsoft.com/office/drawing/2014/main" id="{5DA97FF1-11A3-3F19-E55C-32110CEB4E8E}"/>
              </a:ext>
            </a:extLst>
          </p:cNvPr>
          <p:cNvSpPr/>
          <p:nvPr/>
        </p:nvSpPr>
        <p:spPr>
          <a:xfrm>
            <a:off x="8040914" y="4768621"/>
            <a:ext cx="1494972" cy="1560575"/>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482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461CBC-F1CC-336A-E7E3-2A2472FFF38C}"/>
              </a:ext>
            </a:extLst>
          </p:cNvPr>
          <p:cNvSpPr>
            <a:spLocks noGrp="1"/>
          </p:cNvSpPr>
          <p:nvPr>
            <p:ph type="ctrTitle"/>
          </p:nvPr>
        </p:nvSpPr>
        <p:spPr>
          <a:xfrm>
            <a:off x="1524000" y="1804534"/>
            <a:ext cx="9144000" cy="2387600"/>
          </a:xfrm>
        </p:spPr>
        <p:txBody>
          <a:bodyPr>
            <a:normAutofit fontScale="90000"/>
          </a:bodyPr>
          <a:lstStyle/>
          <a:p>
            <a:r>
              <a:rPr lang="en-US" dirty="0"/>
              <a:t>A closer look at the ASMFC Horseshoe Crab management framework</a:t>
            </a:r>
          </a:p>
        </p:txBody>
      </p:sp>
    </p:spTree>
    <p:extLst>
      <p:ext uri="{BB962C8B-B14F-4D97-AF65-F5344CB8AC3E}">
        <p14:creationId xmlns:p14="http://schemas.microsoft.com/office/powerpoint/2010/main" val="560651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972767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878584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351095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1180069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2230824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057043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pic>
        <p:nvPicPr>
          <p:cNvPr id="3" name="Picture 2">
            <a:extLst>
              <a:ext uri="{FF2B5EF4-FFF2-40B4-BE49-F238E27FC236}">
                <a16:creationId xmlns:a16="http://schemas.microsoft.com/office/drawing/2014/main" id="{042FECAC-4E70-B72C-E358-F2F8A3746A05}"/>
              </a:ext>
            </a:extLst>
          </p:cNvPr>
          <p:cNvPicPr>
            <a:picLocks noChangeAspect="1"/>
          </p:cNvPicPr>
          <p:nvPr/>
        </p:nvPicPr>
        <p:blipFill>
          <a:blip r:embed="rId3"/>
          <a:stretch>
            <a:fillRect/>
          </a:stretch>
        </p:blipFill>
        <p:spPr>
          <a:xfrm>
            <a:off x="2965827" y="4456984"/>
            <a:ext cx="5362588" cy="1770505"/>
          </a:xfrm>
          <a:prstGeom prst="rect">
            <a:avLst/>
          </a:prstGeom>
        </p:spPr>
      </p:pic>
    </p:spTree>
    <p:extLst>
      <p:ext uri="{BB962C8B-B14F-4D97-AF65-F5344CB8AC3E}">
        <p14:creationId xmlns:p14="http://schemas.microsoft.com/office/powerpoint/2010/main" val="1926706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866377" y="5441947"/>
            <a:ext cx="9282185" cy="584775"/>
          </a:xfrm>
          <a:prstGeom prst="rect">
            <a:avLst/>
          </a:prstGeom>
          <a:noFill/>
        </p:spPr>
        <p:txBody>
          <a:bodyPr wrap="square" rtlCol="0">
            <a:spAutoFit/>
          </a:bodyPr>
          <a:lstStyle/>
          <a:p>
            <a:r>
              <a:rPr lang="en-US" sz="3200" dirty="0"/>
              <a:t>REKN Lambda = 1.04 (at baseline HSC abundance)</a:t>
            </a:r>
          </a:p>
        </p:txBody>
      </p:sp>
      <p:pic>
        <p:nvPicPr>
          <p:cNvPr id="2" name="Picture 1"/>
          <p:cNvPicPr>
            <a:picLocks noChangeAspect="1"/>
          </p:cNvPicPr>
          <p:nvPr/>
        </p:nvPicPr>
        <p:blipFill>
          <a:blip r:embed="rId2"/>
          <a:stretch>
            <a:fillRect/>
          </a:stretch>
        </p:blipFill>
        <p:spPr>
          <a:xfrm>
            <a:off x="1527455" y="1476383"/>
            <a:ext cx="8013346" cy="2645676"/>
          </a:xfrm>
          <a:prstGeom prst="rect">
            <a:avLst/>
          </a:prstGeom>
        </p:spPr>
      </p:pic>
      <p:sp>
        <p:nvSpPr>
          <p:cNvPr id="4" name="TextBox 3"/>
          <p:cNvSpPr txBox="1"/>
          <p:nvPr/>
        </p:nvSpPr>
        <p:spPr>
          <a:xfrm>
            <a:off x="10231742" y="6488668"/>
            <a:ext cx="1833643" cy="369332"/>
          </a:xfrm>
          <a:prstGeom prst="rect">
            <a:avLst/>
          </a:prstGeom>
          <a:noFill/>
        </p:spPr>
        <p:txBody>
          <a:bodyPr wrap="none" rtlCol="0">
            <a:spAutoFit/>
          </a:bodyPr>
          <a:lstStyle/>
          <a:p>
            <a:r>
              <a:rPr lang="en-US" dirty="0"/>
              <a:t>Tucker et al. 2023</a:t>
            </a:r>
          </a:p>
        </p:txBody>
      </p:sp>
    </p:spTree>
    <p:extLst>
      <p:ext uri="{BB962C8B-B14F-4D97-AF65-F5344CB8AC3E}">
        <p14:creationId xmlns:p14="http://schemas.microsoft.com/office/powerpoint/2010/main" val="808911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pic>
        <p:nvPicPr>
          <p:cNvPr id="2" name="Picture 1">
            <a:extLst>
              <a:ext uri="{FF2B5EF4-FFF2-40B4-BE49-F238E27FC236}">
                <a16:creationId xmlns:a16="http://schemas.microsoft.com/office/drawing/2014/main" id="{117B8CD3-4F79-4E0E-F7A9-20C630ADAAE8}"/>
              </a:ext>
            </a:extLst>
          </p:cNvPr>
          <p:cNvPicPr>
            <a:picLocks noChangeAspect="1"/>
          </p:cNvPicPr>
          <p:nvPr/>
        </p:nvPicPr>
        <p:blipFill>
          <a:blip r:embed="rId2"/>
          <a:stretch>
            <a:fillRect/>
          </a:stretch>
        </p:blipFill>
        <p:spPr>
          <a:xfrm>
            <a:off x="864890" y="1075486"/>
            <a:ext cx="10011225" cy="3305293"/>
          </a:xfrm>
          <a:prstGeom prst="rect">
            <a:avLst/>
          </a:prstGeom>
        </p:spPr>
      </p:pic>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aph of a graph of a graph of a graph of a graph of a graph of a graph of a graph of a graph of a graph of a graph of a graph of a graph of&#10;&#10;Description automatically generated"/>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72772" y="475998"/>
            <a:ext cx="4786670" cy="5983138"/>
          </a:xfrm>
          <a:prstGeom prst="rect">
            <a:avLst/>
          </a:prstGeom>
          <a:noFill/>
          <a:ln>
            <a:noFill/>
          </a:ln>
        </p:spPr>
      </p:pic>
      <p:sp>
        <p:nvSpPr>
          <p:cNvPr id="5" name="Title 4"/>
          <p:cNvSpPr>
            <a:spLocks noGrp="1"/>
          </p:cNvSpPr>
          <p:nvPr>
            <p:ph type="title"/>
          </p:nvPr>
        </p:nvSpPr>
        <p:spPr/>
        <p:txBody>
          <a:bodyPr/>
          <a:lstStyle/>
          <a:p>
            <a:r>
              <a:rPr lang="en-US" dirty="0"/>
              <a:t>REKN survival is related to surface egg density</a:t>
            </a:r>
          </a:p>
        </p:txBody>
      </p:sp>
      <p:sp>
        <p:nvSpPr>
          <p:cNvPr id="7" name="Text Placeholder 6"/>
          <p:cNvSpPr>
            <a:spLocks noGrp="1"/>
          </p:cNvSpPr>
          <p:nvPr>
            <p:ph type="body" sz="half" idx="2"/>
          </p:nvPr>
        </p:nvSpPr>
        <p:spPr>
          <a:xfrm>
            <a:off x="839787" y="3933173"/>
            <a:ext cx="3932237" cy="1196779"/>
          </a:xfrm>
        </p:spPr>
        <p:txBody>
          <a:bodyPr/>
          <a:lstStyle/>
          <a:p>
            <a:r>
              <a:rPr lang="en-US" dirty="0"/>
              <a:t>NOTE: </a:t>
            </a:r>
            <a:r>
              <a:rPr lang="en-US" i="1" dirty="0"/>
              <a:t>Since egg density data was not collected on the DE side of Delaware Bay, only birds </a:t>
            </a:r>
            <a:r>
              <a:rPr lang="en-US" i="1" dirty="0" err="1"/>
              <a:t>resighted</a:t>
            </a:r>
            <a:r>
              <a:rPr lang="en-US" i="1" dirty="0"/>
              <a:t> in NJ were used for this analysis</a:t>
            </a:r>
            <a:endParaRPr lang="en-US" dirty="0"/>
          </a:p>
        </p:txBody>
      </p:sp>
    </p:spTree>
    <p:extLst>
      <p:ext uri="{BB962C8B-B14F-4D97-AF65-F5344CB8AC3E}">
        <p14:creationId xmlns:p14="http://schemas.microsoft.com/office/powerpoint/2010/main" val="27308468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E:\Dropbox\My consulting\Red Knot EarthJustice\MY_ANALYSES\REKN_MODEL\figs\Rekn_growth_hsc_collapse2.png"/>
          <p:cNvPicPr/>
          <p:nvPr/>
        </p:nvPicPr>
        <p:blipFill rotWithShape="1">
          <a:blip r:embed="rId2" cstate="print">
            <a:extLst>
              <a:ext uri="{28A0092B-C50C-407E-A947-70E740481C1C}">
                <a14:useLocalDpi xmlns:a14="http://schemas.microsoft.com/office/drawing/2010/main" val="0"/>
              </a:ext>
            </a:extLst>
          </a:blip>
          <a:srcRect t="4131" r="6178" b="13913"/>
          <a:stretch/>
        </p:blipFill>
        <p:spPr bwMode="auto">
          <a:xfrm>
            <a:off x="197765" y="1151787"/>
            <a:ext cx="5670296" cy="3961210"/>
          </a:xfrm>
          <a:prstGeom prst="rect">
            <a:avLst/>
          </a:prstGeom>
          <a:noFill/>
          <a:ln>
            <a:noFill/>
          </a:ln>
          <a:extLst>
            <a:ext uri="{53640926-AAD7-44D8-BBD7-CCE9431645EC}">
              <a14:shadowObscured xmlns:a14="http://schemas.microsoft.com/office/drawing/2010/main"/>
            </a:ext>
          </a:extLst>
        </p:spPr>
      </p:pic>
      <p:pic>
        <p:nvPicPr>
          <p:cNvPr id="6" name="Picture 5" descr="E:\Dropbox\My consulting\Red Knot EarthJustice\MY_ANALYSES\REKN_MODEL\figs\Rekn_growth_range2.png"/>
          <p:cNvPicPr/>
          <p:nvPr/>
        </p:nvPicPr>
        <p:blipFill rotWithShape="1">
          <a:blip r:embed="rId3" cstate="print">
            <a:extLst>
              <a:ext uri="{28A0092B-C50C-407E-A947-70E740481C1C}">
                <a14:useLocalDpi xmlns:a14="http://schemas.microsoft.com/office/drawing/2010/main" val="0"/>
              </a:ext>
            </a:extLst>
          </a:blip>
          <a:srcRect t="1169" r="5752" b="12814"/>
          <a:stretch/>
        </p:blipFill>
        <p:spPr bwMode="auto">
          <a:xfrm>
            <a:off x="6125227" y="904252"/>
            <a:ext cx="5764870" cy="4208745"/>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78382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name="SPW 6.0 Graph" r:id="rId3" imgW="5650992" imgH="4233672" progId="">
                  <p:embed/>
                </p:oleObj>
              </mc:Choice>
              <mc:Fallback>
                <p:oleObj name="SPW 6.0 Graph" r:id="rId3" imgW="5650992" imgH="4233672" progId="">
                  <p:embed/>
                  <p:pic>
                    <p:nvPicPr>
                      <p:cNvPr id="7" name="Object 3"/>
                      <p:cNvPicPr>
                        <a:picLocks noChangeAspect="1" noChangeArrowheads="1"/>
                      </p:cNvPicPr>
                      <p:nvPr/>
                    </p:nvPicPr>
                    <p:blipFill>
                      <a:blip r:embed="rId4">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6">
            <a:extLst>
              <a:ext uri="{FF2B5EF4-FFF2-40B4-BE49-F238E27FC236}">
                <a16:creationId xmlns:a16="http://schemas.microsoft.com/office/drawing/2014/main" id="{625919AE-3421-77B1-8099-2FEDF4AE97F0}"/>
              </a:ext>
            </a:extLst>
          </p:cNvPr>
          <p:cNvSpPr/>
          <p:nvPr/>
        </p:nvSpPr>
        <p:spPr>
          <a:xfrm>
            <a:off x="1862504" y="1136318"/>
            <a:ext cx="7560896" cy="4604082"/>
          </a:xfrm>
          <a:prstGeom prst="rect">
            <a:avLst/>
          </a:prstGeom>
          <a:blipFill>
            <a:blip r:embed="rId2" cstate="print"/>
            <a:stretch>
              <a:fillRect/>
            </a:stretch>
          </a:blipFill>
        </p:spPr>
        <p:txBody>
          <a:bodyPr wrap="square" lIns="0" tIns="0" rIns="0" bIns="0" rtlCol="0"/>
          <a:lstStyle/>
          <a:p>
            <a:endParaRPr/>
          </a:p>
        </p:txBody>
      </p:sp>
      <p:sp>
        <p:nvSpPr>
          <p:cNvPr id="5" name="Rectangle 4"/>
          <p:cNvSpPr/>
          <p:nvPr/>
        </p:nvSpPr>
        <p:spPr>
          <a:xfrm>
            <a:off x="6299200" y="889000"/>
            <a:ext cx="1841500" cy="49784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75000"/>
                </a:schemeClr>
              </a:solidFill>
            </a:endParaRPr>
          </a:p>
        </p:txBody>
      </p:sp>
      <p:sp>
        <p:nvSpPr>
          <p:cNvPr id="6" name="TextBox 5"/>
          <p:cNvSpPr txBox="1"/>
          <p:nvPr/>
        </p:nvSpPr>
        <p:spPr>
          <a:xfrm>
            <a:off x="414704" y="6273800"/>
            <a:ext cx="1947496" cy="369332"/>
          </a:xfrm>
          <a:prstGeom prst="rect">
            <a:avLst/>
          </a:prstGeom>
          <a:noFill/>
        </p:spPr>
        <p:txBody>
          <a:bodyPr wrap="square" rtlCol="0">
            <a:spAutoFit/>
          </a:bodyPr>
          <a:lstStyle/>
          <a:p>
            <a:r>
              <a:rPr lang="en-US" dirty="0"/>
              <a:t>ASMFC 2021</a:t>
            </a:r>
          </a:p>
        </p:txBody>
      </p:sp>
    </p:spTree>
    <p:extLst>
      <p:ext uri="{BB962C8B-B14F-4D97-AF65-F5344CB8AC3E}">
        <p14:creationId xmlns:p14="http://schemas.microsoft.com/office/powerpoint/2010/main" val="2863773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977E5-A274-483B-21C4-21582CEA070E}"/>
              </a:ext>
            </a:extLst>
          </p:cNvPr>
          <p:cNvSpPr>
            <a:spLocks noGrp="1"/>
          </p:cNvSpPr>
          <p:nvPr>
            <p:ph type="title"/>
          </p:nvPr>
        </p:nvSpPr>
        <p:spPr/>
        <p:txBody>
          <a:bodyPr/>
          <a:lstStyle/>
          <a:p>
            <a:r>
              <a:rPr lang="en-US" dirty="0"/>
              <a:t>L</a:t>
            </a:r>
          </a:p>
        </p:txBody>
      </p:sp>
      <p:sp>
        <p:nvSpPr>
          <p:cNvPr id="3" name="Content Placeholder 2">
            <a:extLst>
              <a:ext uri="{FF2B5EF4-FFF2-40B4-BE49-F238E27FC236}">
                <a16:creationId xmlns:a16="http://schemas.microsoft.com/office/drawing/2014/main" id="{18BC4146-63B6-FCEE-4A2E-1E2CA76A55B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067346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9761</TotalTime>
  <Words>2100</Words>
  <Application>Microsoft Office PowerPoint</Application>
  <PresentationFormat>Widescreen</PresentationFormat>
  <Paragraphs>262</Paragraphs>
  <Slides>52</Slides>
  <Notes>10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52</vt:i4>
      </vt:variant>
    </vt:vector>
  </HeadingPairs>
  <TitlesOfParts>
    <vt:vector size="59" baseType="lpstr">
      <vt:lpstr>Arial</vt:lpstr>
      <vt:lpstr>Calibri</vt:lpstr>
      <vt:lpstr>Calibri Light</vt:lpstr>
      <vt:lpstr>Cambria Math</vt:lpstr>
      <vt:lpstr>Times New Roman</vt:lpstr>
      <vt:lpstr>Office Theme</vt:lpstr>
      <vt:lpstr>SPW 6.0 Graph</vt:lpstr>
      <vt:lpstr>Population Viability Analysis (PVA)</vt:lpstr>
      <vt:lpstr>PVA challenges and opportunities </vt:lpstr>
      <vt:lpstr>Case study: gopher tortoise Species Status Assessment</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PowerPoint Presentation</vt:lpstr>
      <vt:lpstr>PowerPoint Presentation</vt:lpstr>
      <vt:lpstr>Overview of Changes</vt:lpstr>
      <vt:lpstr>Management and Monitoring History for Horseshoe Crabs and Red Knots</vt:lpstr>
      <vt:lpstr>Monitoring data</vt:lpstr>
      <vt:lpstr>PowerPoint Presentation</vt:lpstr>
      <vt:lpstr>Revised ARM Conceptual Model</vt:lpstr>
      <vt:lpstr>CMSA Results – Female Horseshoe Crabs</vt:lpstr>
      <vt:lpstr>Red Knot IPM – Survival and Recruitment</vt:lpstr>
      <vt:lpstr>Red Knot IPM – Covariate Effects</vt:lpstr>
      <vt:lpstr>Red Knot IPM – Covariate Effects</vt:lpstr>
      <vt:lpstr>Population Viability Analysis (PVA) Models</vt:lpstr>
      <vt:lpstr>Results: Predicted population sizes</vt:lpstr>
      <vt:lpstr>Results: Predicted population sizes</vt:lpstr>
      <vt:lpstr>‘Reward' Function for optimization</vt:lpstr>
      <vt:lpstr>Example Harvest Recommendation</vt:lpstr>
      <vt:lpstr>PowerPoint Presentation</vt:lpstr>
      <vt:lpstr>A closer look at the ASMFC Horseshoe Crab management framework</vt:lpstr>
      <vt:lpstr>Red Knot model</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lpstr>Two-stage population model for Red Knot:</vt:lpstr>
      <vt:lpstr>PowerPoint Presentation</vt:lpstr>
      <vt:lpstr>Red Knot (REKN) population model specification</vt:lpstr>
      <vt:lpstr>REKN scenario tests (group activity)</vt:lpstr>
      <vt:lpstr>(In class exercise)</vt:lpstr>
      <vt:lpstr>PowerPoint Presentation</vt:lpstr>
      <vt:lpstr>PowerPoint Presentation</vt:lpstr>
      <vt:lpstr>REKN survival is related to surface egg density</vt:lpstr>
      <vt:lpstr>PowerPoint Presentation</vt:lpstr>
      <vt:lpstr>Horseshoe crab model</vt:lpstr>
      <vt:lpstr>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Let’s discuss!</vt:lpstr>
      <vt:lpstr>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Michael</cp:lastModifiedBy>
  <cp:revision>450</cp:revision>
  <dcterms:created xsi:type="dcterms:W3CDTF">2016-09-20T20:11:05Z</dcterms:created>
  <dcterms:modified xsi:type="dcterms:W3CDTF">2024-04-04T03:53:27Z</dcterms:modified>
</cp:coreProperties>
</file>