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svg" ContentType="image/svg+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395" r:id="rId3"/>
    <p:sldId id="453" r:id="rId4"/>
    <p:sldId id="505" r:id="rId5"/>
    <p:sldId id="490" r:id="rId6"/>
    <p:sldId id="506" r:id="rId7"/>
    <p:sldId id="401" r:id="rId8"/>
    <p:sldId id="507" r:id="rId9"/>
    <p:sldId id="508" r:id="rId10"/>
    <p:sldId id="509" r:id="rId11"/>
    <p:sldId id="405" r:id="rId12"/>
    <p:sldId id="431" r:id="rId13"/>
    <p:sldId id="432" r:id="rId14"/>
    <p:sldId id="423" r:id="rId15"/>
    <p:sldId id="433" r:id="rId16"/>
    <p:sldId id="449" r:id="rId17"/>
    <p:sldId id="491" r:id="rId18"/>
    <p:sldId id="492" r:id="rId19"/>
    <p:sldId id="510" r:id="rId20"/>
    <p:sldId id="493" r:id="rId21"/>
    <p:sldId id="494" r:id="rId22"/>
    <p:sldId id="497" r:id="rId23"/>
    <p:sldId id="457" r:id="rId24"/>
    <p:sldId id="456" r:id="rId25"/>
    <p:sldId id="511" r:id="rId26"/>
    <p:sldId id="512" r:id="rId27"/>
    <p:sldId id="495" r:id="rId28"/>
    <p:sldId id="482" r:id="rId29"/>
    <p:sldId id="383" r:id="rId30"/>
    <p:sldId id="499" r:id="rId31"/>
    <p:sldId id="500" r:id="rId32"/>
    <p:sldId id="501" r:id="rId33"/>
    <p:sldId id="462" r:id="rId34"/>
    <p:sldId id="522" r:id="rId35"/>
    <p:sldId id="471" r:id="rId36"/>
    <p:sldId id="362" r:id="rId37"/>
    <p:sldId id="523" r:id="rId38"/>
    <p:sldId id="502" r:id="rId39"/>
    <p:sldId id="503" r:id="rId40"/>
    <p:sldId id="504" r:id="rId41"/>
    <p:sldId id="414" r:id="rId42"/>
    <p:sldId id="419" r:id="rId43"/>
    <p:sldId id="420" r:id="rId44"/>
    <p:sldId id="421" r:id="rId45"/>
    <p:sldId id="422" r:id="rId46"/>
    <p:sldId id="455" r:id="rId47"/>
    <p:sldId id="459" r:id="rId48"/>
    <p:sldId id="258" r:id="rId49"/>
    <p:sldId id="263" r:id="rId50"/>
    <p:sldId id="261" r:id="rId51"/>
    <p:sldId id="498"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autoAdjust="0"/>
    <p:restoredTop sz="66802" autoAdjust="0"/>
  </p:normalViewPr>
  <p:slideViewPr>
    <p:cSldViewPr snapToGrid="0">
      <p:cViewPr varScale="1">
        <p:scale>
          <a:sx n="75" d="100"/>
          <a:sy n="75" d="100"/>
        </p:scale>
        <p:origin x="1722"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3/27/2026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1</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13</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Illustrates how PVA intersects with decision analysis. </a:t>
            </a:r>
          </a:p>
        </p:txBody>
      </p:sp>
      <p:sp>
        <p:nvSpPr>
          <p:cNvPr id="4" name="Slide Number Placeholder 3"/>
          <p:cNvSpPr>
            <a:spLocks noGrp="1"/>
          </p:cNvSpPr>
          <p:nvPr>
            <p:ph type="sldNum" sz="quarter" idx="5"/>
          </p:nvPr>
        </p:nvSpPr>
        <p:spPr/>
        <p:txBody>
          <a:bodyPr/>
          <a:lstStyle/>
          <a:p>
            <a:fld id="{047B4AE8-1075-48E4-9F0E-14AAFCA87C11}" type="slidenum">
              <a:rPr lang="en-US" smtClean="0"/>
              <a:t>14</a:t>
            </a:fld>
            <a:endParaRPr lang="en-US"/>
          </a:p>
        </p:txBody>
      </p:sp>
    </p:spTree>
    <p:extLst>
      <p:ext uri="{BB962C8B-B14F-4D97-AF65-F5344CB8AC3E}">
        <p14:creationId xmlns:p14="http://schemas.microsoft.com/office/powerpoint/2010/main" val="9988988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18</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29</a:t>
            </a:fld>
            <a:endParaRPr lang="en-US"/>
          </a:p>
        </p:txBody>
      </p:sp>
    </p:spTree>
    <p:extLst>
      <p:ext uri="{BB962C8B-B14F-4D97-AF65-F5344CB8AC3E}">
        <p14:creationId xmlns:p14="http://schemas.microsoft.com/office/powerpoint/2010/main" val="2425633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35</a:t>
            </a:fld>
            <a:endParaRPr lang="en-US"/>
          </a:p>
        </p:txBody>
      </p:sp>
    </p:spTree>
    <p:extLst>
      <p:ext uri="{BB962C8B-B14F-4D97-AF65-F5344CB8AC3E}">
        <p14:creationId xmlns:p14="http://schemas.microsoft.com/office/powerpoint/2010/main" val="8053719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38</a:t>
            </a:fld>
            <a:endParaRPr/>
          </a:p>
        </p:txBody>
      </p:sp>
    </p:spTree>
    <p:extLst>
      <p:ext uri="{BB962C8B-B14F-4D97-AF65-F5344CB8AC3E}">
        <p14:creationId xmlns:p14="http://schemas.microsoft.com/office/powerpoint/2010/main" val="2390196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39</a:t>
            </a:fld>
            <a:endParaRPr/>
          </a:p>
        </p:txBody>
      </p:sp>
    </p:spTree>
    <p:extLst>
      <p:ext uri="{BB962C8B-B14F-4D97-AF65-F5344CB8AC3E}">
        <p14:creationId xmlns:p14="http://schemas.microsoft.com/office/powerpoint/2010/main" val="8833209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40</a:t>
            </a:fld>
            <a:endParaRPr/>
          </a:p>
        </p:txBody>
      </p:sp>
    </p:spTree>
    <p:extLst>
      <p:ext uri="{BB962C8B-B14F-4D97-AF65-F5344CB8AC3E}">
        <p14:creationId xmlns:p14="http://schemas.microsoft.com/office/powerpoint/2010/main" val="12326964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49</a:t>
            </a:fld>
            <a:endParaRPr lang="en-US"/>
          </a:p>
        </p:txBody>
      </p:sp>
    </p:spTree>
    <p:extLst>
      <p:ext uri="{BB962C8B-B14F-4D97-AF65-F5344CB8AC3E}">
        <p14:creationId xmlns:p14="http://schemas.microsoft.com/office/powerpoint/2010/main" val="2211331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3/27/2026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3/27/2026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3/27/2026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3/27/2026</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jpe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insightmaker.com/insight/hoWpE5JlD9x5AaPHujVg4/Red-Knot-Matrix-Model" TargetMode="Externa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21.wmf"/><Relationship Id="rId4" Type="http://schemas.openxmlformats.org/officeDocument/2006/relationships/oleObject" Target="../embeddings/oleObject1.bin"/></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3.jpeg"/></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5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maximize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needed to update the model!</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1290350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6508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extLst>
                <a:ext uri="{28A0092B-C50C-407E-A947-70E740481C1C}">
                  <a14:useLocalDpi xmlns:a14="http://schemas.microsoft.com/office/drawing/2010/main" val="0"/>
                </a:ext>
              </a:extLst>
            </a:blip>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extLst>
                <a:ext uri="{28A0092B-C50C-407E-A947-70E740481C1C}">
                  <a14:useLocalDpi xmlns:a14="http://schemas.microsoft.com/office/drawing/2010/main" val="0"/>
                </a:ext>
              </a:extLst>
            </a:blip>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err="1">
                <a:latin typeface="Times New Roman"/>
                <a:cs typeface="Times New Roman"/>
              </a:rPr>
              <a:t>r</a:t>
            </a:r>
            <a:r>
              <a:rPr sz="2400" i="1" spc="7" baseline="-21367" dirty="0" err="1">
                <a:latin typeface="Times New Roman"/>
                <a:cs typeface="Times New Roman"/>
              </a:rPr>
              <a:t>y</a:t>
            </a:r>
            <a:r>
              <a:rPr sz="2400" i="1" spc="7" baseline="-21367" dirty="0">
                <a:latin typeface="Times New Roman"/>
                <a:cs typeface="Times New Roman"/>
              </a:rPr>
              <a:t> </a:t>
            </a:r>
            <a:r>
              <a:rPr lang="en-US" sz="2800" spc="-5" dirty="0">
                <a:latin typeface="Times New Roman"/>
                <a:cs typeface="Times New Roman"/>
              </a:rPr>
              <a:t>ranges from 0 to 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
        <p:nvSpPr>
          <p:cNvPr id="2" name="Oval 1">
            <a:extLst>
              <a:ext uri="{FF2B5EF4-FFF2-40B4-BE49-F238E27FC236}">
                <a16:creationId xmlns:a16="http://schemas.microsoft.com/office/drawing/2014/main" id="{5DA97FF1-11A3-3F19-E55C-32110CEB4E8E}"/>
              </a:ext>
            </a:extLst>
          </p:cNvPr>
          <p:cNvSpPr/>
          <p:nvPr/>
        </p:nvSpPr>
        <p:spPr>
          <a:xfrm>
            <a:off x="8040914" y="4768621"/>
            <a:ext cx="1494972" cy="1560575"/>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482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3904745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7455" y="1476383"/>
            <a:ext cx="8013346" cy="2645676"/>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a:p>
            <a:pPr marL="0" indent="0">
              <a:buNone/>
            </a:pPr>
            <a:r>
              <a:rPr lang="en-US" i="1" dirty="0"/>
              <a:t>Let’s build a REKN population model using </a:t>
            </a:r>
            <a:r>
              <a:rPr lang="en-US" i="1" dirty="0" err="1"/>
              <a:t>InsightMaker</a:t>
            </a:r>
            <a:endParaRPr lang="en-US" i="1" dirty="0"/>
          </a:p>
          <a:p>
            <a:endParaRPr lang="en-US" dirty="0"/>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lnSpcReduction="10000"/>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a:p>
            <a:pPr marL="0" indent="0">
              <a:buNone/>
            </a:pPr>
            <a:endParaRPr lang="en-US" sz="1200" dirty="0"/>
          </a:p>
          <a:p>
            <a:pPr marL="0" indent="0">
              <a:buNone/>
            </a:pPr>
            <a:r>
              <a:rPr lang="en-US" i="1" dirty="0"/>
              <a:t>Please work together to describe the results of your scenario tests, and what this might mean for regulating the harvest of horseshoe crabs in Delaware Bay. Does this result make sense, based on what you know about red knots?</a:t>
            </a:r>
          </a:p>
          <a:p>
            <a:pPr marL="514350" indent="-514350">
              <a:buFont typeface="+mj-lt"/>
              <a:buAutoNum type="arabicPeriod"/>
            </a:pPr>
            <a:endParaRPr lang="en-US" dirty="0"/>
          </a:p>
        </p:txBody>
      </p:sp>
    </p:spTree>
    <p:extLst>
      <p:ext uri="{BB962C8B-B14F-4D97-AF65-F5344CB8AC3E}">
        <p14:creationId xmlns:p14="http://schemas.microsoft.com/office/powerpoint/2010/main" val="23523112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https://insightmaker.com/insight/hoWpE5JlD9x5AaPHujVg4/Red-Knot-Matrix-Model</a:t>
            </a:r>
            <a:r>
              <a:rPr lang="en-US" dirty="0"/>
              <a:t> </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4200623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606830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27308468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78382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17829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pPr marL="457200" lvl="1" indent="0">
              <a:buNone/>
            </a:pPr>
            <a:endParaRPr lang="en-US" dirty="0"/>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11540332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extLst>
              <p:ext uri="{D42A27DB-BD31-4B8C-83A1-F6EECF244321}">
                <p14:modId xmlns:p14="http://schemas.microsoft.com/office/powerpoint/2010/main" val="257174628"/>
              </p:ext>
            </p:extLst>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spid="_x0000_s1029" name="SPW 6.0 Graph" r:id="rId4" imgW="5650992" imgH="4233672" progId="">
                  <p:embed/>
                </p:oleObj>
              </mc:Choice>
              <mc:Fallback>
                <p:oleObj name="SPW 6.0 Graph" r:id="rId4" imgW="5650992" imgH="4233672" progId="">
                  <p:embed/>
                  <p:pic>
                    <p:nvPicPr>
                      <p:cNvPr id="7" name="Object 3"/>
                      <p:cNvPicPr>
                        <a:picLocks noChangeAspect="1" noChangeArrowheads="1"/>
                      </p:cNvPicPr>
                      <p:nvPr/>
                    </p:nvPicPr>
                    <p:blipFill>
                      <a:blip r:embed="rId5">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698423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16977100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(set to </a:t>
            </a:r>
            <a:r>
              <a:rPr lang="en-US" b="1" dirty="0"/>
              <a:t>1.6 million per year</a:t>
            </a:r>
            <a:r>
              <a:rPr lang="en-US" dirty="0"/>
              <a:t>).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41193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35304327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9776333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863773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9302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7E5-A274-483B-21C4-21582CEA070E}"/>
              </a:ext>
            </a:extLst>
          </p:cNvPr>
          <p:cNvSpPr>
            <a:spLocks noGrp="1"/>
          </p:cNvSpPr>
          <p:nvPr>
            <p:ph type="title"/>
          </p:nvPr>
        </p:nvSpPr>
        <p:spPr/>
        <p:txBody>
          <a:bodyPr/>
          <a:lstStyle/>
          <a:p>
            <a:r>
              <a:rPr lang="en-US" dirty="0"/>
              <a:t>L</a:t>
            </a:r>
          </a:p>
        </p:txBody>
      </p:sp>
      <p:sp>
        <p:nvSpPr>
          <p:cNvPr id="3" name="Content Placeholder 2">
            <a:extLst>
              <a:ext uri="{FF2B5EF4-FFF2-40B4-BE49-F238E27FC236}">
                <a16:creationId xmlns:a16="http://schemas.microsoft.com/office/drawing/2014/main" id="{18BC4146-63B6-FCEE-4A2E-1E2CA76A55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67346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cstate="print">
            <a:alphaModFix/>
            <a:extLst>
              <a:ext uri="{28A0092B-C50C-407E-A947-70E740481C1C}">
                <a14:useLocalDpi xmlns:a14="http://schemas.microsoft.com/office/drawing/2010/main" val="0"/>
              </a:ext>
            </a:extLst>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extLst>
              <a:ext uri="{28A0092B-C50C-407E-A947-70E740481C1C}">
                <a14:useLocalDpi xmlns:a14="http://schemas.microsoft.com/office/drawing/2010/main" val="0"/>
              </a:ext>
            </a:extLst>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cstate="print">
            <a:alphaModFix/>
            <a:extLst>
              <a:ext uri="{28A0092B-C50C-407E-A947-70E740481C1C}">
                <a14:useLocalDpi xmlns:a14="http://schemas.microsoft.com/office/drawing/2010/main" val="0"/>
              </a:ext>
            </a:extLst>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extLst>
              <a:ext uri="{28A0092B-C50C-407E-A947-70E740481C1C}">
                <a14:useLocalDpi xmlns:a14="http://schemas.microsoft.com/office/drawing/2010/main" val="0"/>
              </a:ext>
            </a:extLst>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725517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402775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cstate="print">
            <a:alphaModFix/>
            <a:extLst>
              <a:ext uri="{28A0092B-C50C-407E-A947-70E740481C1C}">
                <a14:useLocalDpi xmlns:a14="http://schemas.microsoft.com/office/drawing/2010/main" val="0"/>
              </a:ext>
            </a:extLst>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1871595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33172962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6171112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759577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7832355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Viability Analysis (PVA) </a:t>
            </a:r>
            <a:r>
              <a:rPr sz="3600" b="1" spc="-10" dirty="0"/>
              <a:t>Models</a:t>
            </a:r>
            <a:endParaRPr sz="3600" b="1" dirty="0"/>
          </a:p>
        </p:txBody>
      </p:sp>
      <p:sp>
        <p:nvSpPr>
          <p:cNvPr id="9" name="object 9"/>
          <p:cNvSpPr txBox="1"/>
          <p:nvPr/>
        </p:nvSpPr>
        <p:spPr>
          <a:xfrm>
            <a:off x="1047750" y="1470992"/>
            <a:ext cx="10096500" cy="4444807"/>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384300" lvl="2" indent="-457834">
              <a:buFont typeface="Arial"/>
              <a:buChar char="•"/>
              <a:tabLst>
                <a:tab pos="926465" algn="l"/>
                <a:tab pos="927100" algn="l"/>
              </a:tabLst>
            </a:pPr>
            <a:r>
              <a:rPr lang="en-US" sz="2400" spc="-10" dirty="0">
                <a:latin typeface="Calibri"/>
                <a:cs typeface="Calibri"/>
              </a:rPr>
              <a:t>Fit a distribution to the CMSA results (bivariate lognormal)</a:t>
            </a:r>
          </a:p>
          <a:p>
            <a:pPr marL="927100" marR="32384" lvl="1"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20595660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26885883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29715903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4008137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229734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val="0"/>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8848247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488993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11403</TotalTime>
  <Words>2086</Words>
  <Application>Microsoft Office PowerPoint</Application>
  <PresentationFormat>Widescreen</PresentationFormat>
  <Paragraphs>261</Paragraphs>
  <Slides>51</Slides>
  <Notes>10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51</vt:i4>
      </vt:variant>
    </vt:vector>
  </HeadingPairs>
  <TitlesOfParts>
    <vt:vector size="58" baseType="lpstr">
      <vt:lpstr>Arial</vt:lpstr>
      <vt:lpstr>Calibri</vt:lpstr>
      <vt:lpstr>Calibri Light</vt:lpstr>
      <vt:lpstr>Cambria Math</vt:lpstr>
      <vt:lpstr>Times New Roman</vt:lpstr>
      <vt:lpstr>Office Theme</vt:lpstr>
      <vt:lpstr>SPW 6.0 Graph</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Monitoring data</vt:lpstr>
      <vt:lpstr>PowerPoint Presentation</vt:lpstr>
      <vt:lpstr>Revised ARM Conceptual Model</vt:lpstr>
      <vt:lpstr>Results: Predicted population sizes</vt:lpstr>
      <vt:lpstr>Results: Predicted population sizes</vt:lpstr>
      <vt:lpstr>‘Reward' Function for optimization</vt:lpstr>
      <vt:lpstr>Example Harvest Recommendation</vt:lpstr>
      <vt:lpstr>PowerPoint Presentation</vt:lpstr>
      <vt:lpstr>Red Knot model</vt:lpstr>
      <vt:lpstr>Two-stage population model for Red Knot:</vt:lpstr>
      <vt:lpstr>PowerPoint Presentation</vt:lpstr>
      <vt:lpstr>Red Knot (REKN) population model specification</vt:lpstr>
      <vt:lpstr>REKN scenario tests</vt:lpstr>
      <vt:lpstr>(In class exercise)</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Let’s discuss!</vt:lpstr>
      <vt:lpstr>L</vt:lpstr>
      <vt:lpstr>Population Viability Analysis (PVA)</vt:lpstr>
      <vt:lpstr>PVA challenges and opportunities </vt:lpstr>
      <vt:lpstr>Case study: gopher tortoise Species Status Assessment</vt:lpstr>
      <vt:lpstr>CMSA Results – Female Horseshoe Crabs</vt:lpstr>
      <vt:lpstr>Red Knot IPM – Survival and Recruitment</vt:lpstr>
      <vt:lpstr>Red Knot IPM – Covariate Effects</vt:lpstr>
      <vt:lpstr>Red Knot IPM – Covariate Effects</vt:lpstr>
      <vt:lpstr>Population Viability Analysis (PVA) Models</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T Shoemaker</cp:lastModifiedBy>
  <cp:revision>455</cp:revision>
  <dcterms:created xsi:type="dcterms:W3CDTF">2016-09-20T20:11:05Z</dcterms:created>
  <dcterms:modified xsi:type="dcterms:W3CDTF">2026-03-28T21:51:36Z</dcterms:modified>
</cp:coreProperties>
</file>