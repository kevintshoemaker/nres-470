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svg" ContentType="image/svg+xml"/>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395" r:id="rId3"/>
    <p:sldId id="453" r:id="rId4"/>
    <p:sldId id="505" r:id="rId5"/>
    <p:sldId id="490" r:id="rId6"/>
    <p:sldId id="506" r:id="rId7"/>
    <p:sldId id="401" r:id="rId8"/>
    <p:sldId id="507" r:id="rId9"/>
    <p:sldId id="508" r:id="rId10"/>
    <p:sldId id="509" r:id="rId11"/>
    <p:sldId id="405" r:id="rId12"/>
    <p:sldId id="414" r:id="rId13"/>
    <p:sldId id="419" r:id="rId14"/>
    <p:sldId id="420" r:id="rId15"/>
    <p:sldId id="421" r:id="rId16"/>
    <p:sldId id="422" r:id="rId17"/>
    <p:sldId id="431" r:id="rId18"/>
    <p:sldId id="432" r:id="rId19"/>
    <p:sldId id="423" r:id="rId20"/>
    <p:sldId id="433" r:id="rId21"/>
    <p:sldId id="449" r:id="rId22"/>
    <p:sldId id="454" r:id="rId23"/>
    <p:sldId id="491" r:id="rId24"/>
    <p:sldId id="455" r:id="rId25"/>
    <p:sldId id="459" r:id="rId26"/>
    <p:sldId id="258" r:id="rId27"/>
    <p:sldId id="263" r:id="rId28"/>
    <p:sldId id="261" r:id="rId29"/>
    <p:sldId id="498" r:id="rId30"/>
    <p:sldId id="492" r:id="rId31"/>
    <p:sldId id="510" r:id="rId32"/>
    <p:sldId id="493" r:id="rId33"/>
    <p:sldId id="494" r:id="rId34"/>
    <p:sldId id="497" r:id="rId35"/>
    <p:sldId id="457" r:id="rId36"/>
    <p:sldId id="456" r:id="rId37"/>
    <p:sldId id="511" r:id="rId38"/>
    <p:sldId id="512" r:id="rId39"/>
    <p:sldId id="495" r:id="rId40"/>
    <p:sldId id="482" r:id="rId41"/>
    <p:sldId id="383" r:id="rId42"/>
    <p:sldId id="499" r:id="rId43"/>
    <p:sldId id="500" r:id="rId44"/>
    <p:sldId id="501" r:id="rId45"/>
    <p:sldId id="462" r:id="rId46"/>
    <p:sldId id="522" r:id="rId47"/>
    <p:sldId id="471" r:id="rId48"/>
    <p:sldId id="362" r:id="rId49"/>
    <p:sldId id="523" r:id="rId50"/>
    <p:sldId id="502" r:id="rId51"/>
    <p:sldId id="503" r:id="rId52"/>
    <p:sldId id="504"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75" d="100"/>
          <a:sy n="75" d="100"/>
        </p:scale>
        <p:origin x="1722" y="7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0.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3/27/2026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1</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18</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19</a:t>
            </a:fld>
            <a:endParaRPr lang="en-US"/>
          </a:p>
        </p:txBody>
      </p:sp>
    </p:spTree>
    <p:extLst>
      <p:ext uri="{BB962C8B-B14F-4D97-AF65-F5344CB8AC3E}">
        <p14:creationId xmlns:p14="http://schemas.microsoft.com/office/powerpoint/2010/main" val="9988988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27</a:t>
            </a:fld>
            <a:endParaRPr lang="en-US"/>
          </a:p>
        </p:txBody>
      </p:sp>
    </p:spTree>
    <p:extLst>
      <p:ext uri="{BB962C8B-B14F-4D97-AF65-F5344CB8AC3E}">
        <p14:creationId xmlns:p14="http://schemas.microsoft.com/office/powerpoint/2010/main" val="28437387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41</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47</a:t>
            </a:fld>
            <a:endParaRPr lang="en-US"/>
          </a:p>
        </p:txBody>
      </p:sp>
    </p:spTree>
    <p:extLst>
      <p:ext uri="{BB962C8B-B14F-4D97-AF65-F5344CB8AC3E}">
        <p14:creationId xmlns:p14="http://schemas.microsoft.com/office/powerpoint/2010/main" val="805371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50</a:t>
            </a:fld>
            <a:endParaRPr/>
          </a:p>
        </p:txBody>
      </p:sp>
    </p:spTree>
    <p:extLst>
      <p:ext uri="{BB962C8B-B14F-4D97-AF65-F5344CB8AC3E}">
        <p14:creationId xmlns:p14="http://schemas.microsoft.com/office/powerpoint/2010/main" val="2390196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51</a:t>
            </a:fld>
            <a:endParaRPr/>
          </a:p>
        </p:txBody>
      </p:sp>
    </p:spTree>
    <p:extLst>
      <p:ext uri="{BB962C8B-B14F-4D97-AF65-F5344CB8AC3E}">
        <p14:creationId xmlns:p14="http://schemas.microsoft.com/office/powerpoint/2010/main" val="8833209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52</a:t>
            </a:fld>
            <a:endParaRPr/>
          </a:p>
        </p:txBody>
      </p:sp>
    </p:spTree>
    <p:extLst>
      <p:ext uri="{BB962C8B-B14F-4D97-AF65-F5344CB8AC3E}">
        <p14:creationId xmlns:p14="http://schemas.microsoft.com/office/powerpoint/2010/main" val="12326964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3/27/2026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3/27/2026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3/27/2026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3/27/2026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3/27/2026</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jpe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30.wmf"/><Relationship Id="rId4" Type="http://schemas.openxmlformats.org/officeDocument/2006/relationships/oleObject" Target="../embeddings/oleObject1.bin"/></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needed to update the model!</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243430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2450933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26405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982554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875694"/>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B</a:t>
            </a:r>
            <a:r>
              <a:rPr sz="2800" spc="-5" dirty="0">
                <a:latin typeface="Calibri"/>
                <a:cs typeface="Calibri"/>
              </a:rPr>
              <a:t>ased </a:t>
            </a:r>
            <a:r>
              <a:rPr lang="en-US" sz="2800" spc="-5" dirty="0">
                <a:latin typeface="Calibri"/>
                <a:cs typeface="Calibri"/>
              </a:rPr>
              <a:t>loosely </a:t>
            </a:r>
            <a:r>
              <a:rPr sz="2800" spc="-5" dirty="0">
                <a:latin typeface="Calibri"/>
                <a:cs typeface="Calibri"/>
              </a:rPr>
              <a:t>on</a:t>
            </a:r>
            <a:r>
              <a:rPr sz="2800" spc="5" dirty="0">
                <a:latin typeface="Calibri"/>
                <a:cs typeface="Calibri"/>
              </a:rPr>
              <a:t> </a:t>
            </a:r>
            <a:r>
              <a:rPr sz="2800" spc="-5" dirty="0">
                <a:latin typeface="Calibri"/>
                <a:cs typeface="Calibri"/>
              </a:rPr>
              <a:t>CMS</a:t>
            </a:r>
            <a:r>
              <a:rPr lang="en-US" sz="2800" spc="-5" dirty="0">
                <a:latin typeface="Calibri"/>
                <a:cs typeface="Calibri"/>
              </a:rPr>
              <a:t>A results</a:t>
            </a:r>
          </a:p>
          <a:p>
            <a:pPr marL="1384300" lvl="2"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841500" lvl="3" indent="-457834">
              <a:buFont typeface="Arial"/>
              <a:buChar char="•"/>
              <a:tabLst>
                <a:tab pos="926465" algn="l"/>
                <a:tab pos="927100" algn="l"/>
              </a:tabLst>
            </a:pPr>
            <a:r>
              <a:rPr lang="en-US" sz="2400" spc="-10" dirty="0">
                <a:latin typeface="Calibri"/>
                <a:cs typeface="Calibri"/>
              </a:rPr>
              <a:t>Fit a distribution to the CMSA results (bivariate lognormal)</a:t>
            </a:r>
          </a:p>
          <a:p>
            <a:pPr marL="1384300" marR="32384" lvl="2"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3203230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extLst>
                <a:ext uri="{28A0092B-C50C-407E-A947-70E740481C1C}">
                  <a14:useLocalDpi xmlns:a14="http://schemas.microsoft.com/office/drawing/2010/main" val="0"/>
                </a:ext>
              </a:extLst>
            </a:blip>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extLst>
                <a:ext uri="{28A0092B-C50C-407E-A947-70E740481C1C}">
                  <a14:useLocalDpi xmlns:a14="http://schemas.microsoft.com/office/drawing/2010/main" val="0"/>
                </a:ext>
              </a:extLst>
            </a:blip>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a:latin typeface="Times New Roman"/>
                <a:cs typeface="Times New Roman"/>
              </a:rPr>
              <a:t>r</a:t>
            </a:r>
            <a:r>
              <a:rPr sz="2400" i="1" spc="7" baseline="-21367" dirty="0">
                <a:latin typeface="Times New Roman"/>
                <a:cs typeface="Times New Roman"/>
              </a:rPr>
              <a:t>y </a:t>
            </a:r>
            <a:r>
              <a:rPr sz="2800" spc="-5" dirty="0">
                <a:latin typeface="Times New Roman"/>
                <a:cs typeface="Times New Roman"/>
              </a:rPr>
              <a:t>= (0 ,</a:t>
            </a:r>
            <a:r>
              <a:rPr sz="2800" spc="-90" dirty="0">
                <a:latin typeface="Times New Roman"/>
                <a:cs typeface="Times New Roman"/>
              </a:rPr>
              <a:t> </a:t>
            </a:r>
            <a:r>
              <a:rPr sz="2800" spc="-5" dirty="0">
                <a:latin typeface="Times New Roman"/>
                <a:cs typeface="Times New Roman"/>
              </a:rPr>
              <a:t>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40914" y="4768621"/>
            <a:ext cx="1494972" cy="1560575"/>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461CBC-F1CC-336A-E7E3-2A2472FFF38C}"/>
              </a:ext>
            </a:extLst>
          </p:cNvPr>
          <p:cNvSpPr>
            <a:spLocks noGrp="1"/>
          </p:cNvSpPr>
          <p:nvPr>
            <p:ph type="ctrTitle"/>
          </p:nvPr>
        </p:nvSpPr>
        <p:spPr>
          <a:xfrm>
            <a:off x="1524000" y="1804534"/>
            <a:ext cx="9144000" cy="2387600"/>
          </a:xfrm>
        </p:spPr>
        <p:txBody>
          <a:bodyPr>
            <a:normAutofit fontScale="90000"/>
          </a:bodyPr>
          <a:lstStyle/>
          <a:p>
            <a:r>
              <a:rPr lang="en-US" dirty="0"/>
              <a:t>A closer look at the ASMFC Horseshoe Crab management framework</a:t>
            </a:r>
          </a:p>
        </p:txBody>
      </p:sp>
    </p:spTree>
    <p:extLst>
      <p:ext uri="{BB962C8B-B14F-4D97-AF65-F5344CB8AC3E}">
        <p14:creationId xmlns:p14="http://schemas.microsoft.com/office/powerpoint/2010/main" val="560651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extLst>
                <a:ext uri="{28A0092B-C50C-407E-A947-70E740481C1C}">
                  <a14:useLocalDpi xmlns:a14="http://schemas.microsoft.com/office/drawing/2010/main" val="0"/>
                </a:ext>
              </a:extLst>
            </a:blip>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extLst>
                <a:ext uri="{28A0092B-C50C-407E-A947-70E740481C1C}">
                  <a14:useLocalDpi xmlns:a14="http://schemas.microsoft.com/office/drawing/2010/main" val="0"/>
                </a:ext>
              </a:extLst>
            </a:blip>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972767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8785846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351095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1180069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val="0"/>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22308247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05704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27308468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7838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pPr marL="457200" lvl="1" indent="0">
              <a:buNone/>
            </a:pPr>
            <a:endParaRPr lang="en-US" dirty="0"/>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spid="_x0000_s1026" name="SPW 6.0 Graph" r:id="rId4" imgW="5650992" imgH="4233672" progId="">
                  <p:embed/>
                </p:oleObj>
              </mc:Choice>
              <mc:Fallback>
                <p:oleObj name="SPW 6.0 Graph" r:id="rId4" imgW="5650992" imgH="4233672" progId="">
                  <p:embed/>
                  <p:pic>
                    <p:nvPicPr>
                      <p:cNvPr id="7" name="Object 3"/>
                      <p:cNvPicPr>
                        <a:picLocks noChangeAspect="1" noChangeArrowheads="1"/>
                      </p:cNvPicPr>
                      <p:nvPr/>
                    </p:nvPicPr>
                    <p:blipFill>
                      <a:blip r:embed="rId5">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(set to </a:t>
            </a:r>
            <a:r>
              <a:rPr lang="en-US" b="1" dirty="0"/>
              <a:t>1.6 million per year</a:t>
            </a:r>
            <a:r>
              <a:rPr lang="en-US" dirty="0"/>
              <a:t>).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extLst>
                <a:ext uri="{28A0092B-C50C-407E-A947-70E740481C1C}">
                  <a14:useLocalDpi xmlns:a14="http://schemas.microsoft.com/office/drawing/2010/main" val="0"/>
                </a:ext>
              </a:extLst>
            </a:blip>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863773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cstate="print">
            <a:alphaModFix/>
            <a:extLst>
              <a:ext uri="{28A0092B-C50C-407E-A947-70E740481C1C}">
                <a14:useLocalDpi xmlns:a14="http://schemas.microsoft.com/office/drawing/2010/main" val="0"/>
              </a:ext>
            </a:extLst>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extLst>
              <a:ext uri="{28A0092B-C50C-407E-A947-70E740481C1C}">
                <a14:useLocalDpi xmlns:a14="http://schemas.microsoft.com/office/drawing/2010/main" val="0"/>
              </a:ext>
            </a:extLst>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extLst>
              <a:ext uri="{28A0092B-C50C-407E-A947-70E740481C1C}">
                <a14:useLocalDpi xmlns:a14="http://schemas.microsoft.com/office/drawing/2010/main" val="0"/>
              </a:ext>
            </a:extLst>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cstate="print">
            <a:alphaModFix/>
            <a:extLst>
              <a:ext uri="{28A0092B-C50C-407E-A947-70E740481C1C}">
                <a14:useLocalDpi xmlns:a14="http://schemas.microsoft.com/office/drawing/2010/main" val="0"/>
              </a:ext>
            </a:extLst>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extLst>
              <a:ext uri="{28A0092B-C50C-407E-A947-70E740481C1C}">
                <a14:useLocalDpi xmlns:a14="http://schemas.microsoft.com/office/drawing/2010/main" val="0"/>
              </a:ext>
            </a:extLst>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725517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402775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extLst>
              <a:ext uri="{28A0092B-C50C-407E-A947-70E740481C1C}">
                <a14:useLocalDpi xmlns:a14="http://schemas.microsoft.com/office/drawing/2010/main" val="0"/>
              </a:ext>
            </a:extLst>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cstate="print">
            <a:alphaModFix/>
            <a:extLst>
              <a:ext uri="{28A0092B-C50C-407E-A947-70E740481C1C}">
                <a14:useLocalDpi xmlns:a14="http://schemas.microsoft.com/office/drawing/2010/main" val="0"/>
              </a:ext>
            </a:extLst>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1871595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9877</TotalTime>
  <Words>2108</Words>
  <Application>Microsoft Office PowerPoint</Application>
  <PresentationFormat>Widescreen</PresentationFormat>
  <Paragraphs>263</Paragraphs>
  <Slides>52</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52</vt:i4>
      </vt:variant>
    </vt:vector>
  </HeadingPairs>
  <TitlesOfParts>
    <vt:vector size="59" baseType="lpstr">
      <vt:lpstr>Arial</vt:lpstr>
      <vt:lpstr>Calibri</vt:lpstr>
      <vt:lpstr>Calibri Light</vt:lpstr>
      <vt:lpstr>Cambria Math</vt:lpstr>
      <vt:lpstr>Times New Roman</vt:lpstr>
      <vt:lpstr>Office Theme</vt:lpstr>
      <vt:lpstr>SPW 6.0 Graph</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CMSA Results – Female Horseshoe Crabs</vt:lpstr>
      <vt:lpstr>Red Knot IPM – Survival and Recruitment</vt:lpstr>
      <vt:lpstr>Red Knot IPM – Covariate Effects</vt:lpstr>
      <vt:lpstr>Red Knot IPM – Covariate Effects</vt:lpstr>
      <vt:lpstr>Population Viability Analysis (PVA) Models</vt:lpstr>
      <vt:lpstr>Results: Predicted population sizes</vt:lpstr>
      <vt:lpstr>Results: Predicted population sizes</vt:lpstr>
      <vt:lpstr>‘Reward' Function for optimization</vt:lpstr>
      <vt:lpstr>Example Harvest Recommendation</vt:lpstr>
      <vt:lpstr>PowerPoint Presentation</vt:lpstr>
      <vt:lpstr>A closer look at the ASMFC Horseshoe Crab management framework</vt:lpstr>
      <vt:lpstr>Red Knot model</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lpstr>Two-stage population model for Red Knot:</vt:lpstr>
      <vt:lpstr>PowerPoint Presentation</vt:lpstr>
      <vt:lpstr>Red Knot (REKN) population model specification</vt:lpstr>
      <vt:lpstr>REKN scenario tests (group activity)</vt:lpstr>
      <vt:lpstr>(In class exercise)</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Let’s discuss!</vt:lpstr>
      <vt:lpstr>L</vt:lpstr>
      <vt:lpstr>Population Viability Analysis (PVA)</vt:lpstr>
      <vt:lpstr>PVA challenges and opportunities </vt:lpstr>
      <vt:lpstr>Case study: gopher tortoise Species Status Assessment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Kevin T Shoemaker</cp:lastModifiedBy>
  <cp:revision>453</cp:revision>
  <dcterms:created xsi:type="dcterms:W3CDTF">2016-09-20T20:11:05Z</dcterms:created>
  <dcterms:modified xsi:type="dcterms:W3CDTF">2026-03-27T20:25:30Z</dcterms:modified>
</cp:coreProperties>
</file>