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media/image15.jpg" ContentType="image/jpg"/>
  <Override PartName="/ppt/media/image21.jpg" ContentType="image/jpg"/>
  <Override PartName="/ppt/media/image22.jpg" ContentType="image/jpg"/>
  <Override PartName="/ppt/media/image23.jpg" ContentType="image/jpg"/>
  <Override PartName="/ppt/notesSlides/notesSlide5.xml" ContentType="application/vnd.openxmlformats-officedocument.presentationml.notesSlide+xml"/>
  <Override PartName="/ppt/media/image25.jpg" ContentType="image/jp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502" r:id="rId2"/>
    <p:sldId id="503" r:id="rId3"/>
    <p:sldId id="504" r:id="rId4"/>
    <p:sldId id="256" r:id="rId5"/>
    <p:sldId id="395" r:id="rId6"/>
    <p:sldId id="453" r:id="rId7"/>
    <p:sldId id="505" r:id="rId8"/>
    <p:sldId id="490" r:id="rId9"/>
    <p:sldId id="506" r:id="rId10"/>
    <p:sldId id="401" r:id="rId11"/>
    <p:sldId id="507" r:id="rId12"/>
    <p:sldId id="508" r:id="rId13"/>
    <p:sldId id="509" r:id="rId14"/>
    <p:sldId id="405" r:id="rId15"/>
    <p:sldId id="414" r:id="rId16"/>
    <p:sldId id="419" r:id="rId17"/>
    <p:sldId id="420" r:id="rId18"/>
    <p:sldId id="421" r:id="rId19"/>
    <p:sldId id="422" r:id="rId20"/>
    <p:sldId id="431" r:id="rId21"/>
    <p:sldId id="432" r:id="rId22"/>
    <p:sldId id="423" r:id="rId23"/>
    <p:sldId id="433" r:id="rId24"/>
    <p:sldId id="449" r:id="rId25"/>
    <p:sldId id="454" r:id="rId26"/>
    <p:sldId id="491" r:id="rId27"/>
    <p:sldId id="455" r:id="rId28"/>
    <p:sldId id="459" r:id="rId29"/>
    <p:sldId id="258" r:id="rId30"/>
    <p:sldId id="263" r:id="rId31"/>
    <p:sldId id="261" r:id="rId32"/>
    <p:sldId id="498" r:id="rId33"/>
    <p:sldId id="492" r:id="rId34"/>
    <p:sldId id="510" r:id="rId35"/>
    <p:sldId id="493" r:id="rId36"/>
    <p:sldId id="494" r:id="rId37"/>
    <p:sldId id="497" r:id="rId38"/>
    <p:sldId id="457" r:id="rId39"/>
    <p:sldId id="456" r:id="rId40"/>
    <p:sldId id="511" r:id="rId41"/>
    <p:sldId id="512" r:id="rId42"/>
    <p:sldId id="495" r:id="rId43"/>
    <p:sldId id="482" r:id="rId44"/>
    <p:sldId id="383" r:id="rId45"/>
    <p:sldId id="499" r:id="rId46"/>
    <p:sldId id="500" r:id="rId47"/>
    <p:sldId id="501" r:id="rId48"/>
    <p:sldId id="472" r:id="rId49"/>
    <p:sldId id="462" r:id="rId50"/>
    <p:sldId id="522" r:id="rId51"/>
    <p:sldId id="471"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44" d="100"/>
          <a:sy n="44" d="100"/>
        </p:scale>
        <p:origin x="1372" y="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4/1/2024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1</a:t>
            </a:fld>
            <a:endParaRPr/>
          </a:p>
        </p:txBody>
      </p:sp>
    </p:spTree>
    <p:extLst>
      <p:ext uri="{BB962C8B-B14F-4D97-AF65-F5344CB8AC3E}">
        <p14:creationId xmlns:p14="http://schemas.microsoft.com/office/powerpoint/2010/main" val="41926132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2</a:t>
            </a:fld>
            <a:endParaRPr/>
          </a:p>
        </p:txBody>
      </p:sp>
    </p:spTree>
    <p:extLst>
      <p:ext uri="{BB962C8B-B14F-4D97-AF65-F5344CB8AC3E}">
        <p14:creationId xmlns:p14="http://schemas.microsoft.com/office/powerpoint/2010/main" val="3086585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a:t>
            </a:fld>
            <a:endParaRPr/>
          </a:p>
        </p:txBody>
      </p:sp>
    </p:spTree>
    <p:extLst>
      <p:ext uri="{BB962C8B-B14F-4D97-AF65-F5344CB8AC3E}">
        <p14:creationId xmlns:p14="http://schemas.microsoft.com/office/powerpoint/2010/main" val="16390523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21</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30</a:t>
            </a:fld>
            <a:endParaRPr lang="en-US"/>
          </a:p>
        </p:txBody>
      </p:sp>
    </p:spTree>
    <p:extLst>
      <p:ext uri="{BB962C8B-B14F-4D97-AF65-F5344CB8AC3E}">
        <p14:creationId xmlns:p14="http://schemas.microsoft.com/office/powerpoint/2010/main" val="28437387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33</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44</a:t>
            </a:fld>
            <a:endParaRPr lang="en-US"/>
          </a:p>
        </p:txBody>
      </p:sp>
    </p:spTree>
    <p:extLst>
      <p:ext uri="{BB962C8B-B14F-4D97-AF65-F5344CB8AC3E}">
        <p14:creationId xmlns:p14="http://schemas.microsoft.com/office/powerpoint/2010/main" val="24256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51</a:t>
            </a:fld>
            <a:endParaRPr lang="en-US"/>
          </a:p>
        </p:txBody>
      </p:sp>
    </p:spTree>
    <p:extLst>
      <p:ext uri="{BB962C8B-B14F-4D97-AF65-F5344CB8AC3E}">
        <p14:creationId xmlns:p14="http://schemas.microsoft.com/office/powerpoint/2010/main" val="805371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4/1/2024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4/1/2024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4/1/2024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4/1/2024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4/1/2024</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9.jpe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insightmaker.com/insight/hoWpE5JlD9x5AaPHujVg4/Red-Knot-Matrix-Model"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a:alphaModFix/>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a:alphaModFix/>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16961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3597844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a:alphaModFix/>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0928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manage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 to update!</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1290350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650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2434303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2450933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26405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982554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Projection</a:t>
            </a:r>
            <a:r>
              <a:rPr sz="3600" b="1" spc="-10" dirty="0"/>
              <a:t> Models</a:t>
            </a:r>
            <a:r>
              <a:rPr lang="en-US" sz="3600" b="1" spc="-10" dirty="0"/>
              <a:t> (simulations)</a:t>
            </a:r>
            <a:endParaRPr sz="3600" b="1" dirty="0"/>
          </a:p>
        </p:txBody>
      </p:sp>
      <p:sp>
        <p:nvSpPr>
          <p:cNvPr id="9" name="object 9"/>
          <p:cNvSpPr txBox="1"/>
          <p:nvPr/>
        </p:nvSpPr>
        <p:spPr>
          <a:xfrm>
            <a:off x="1047750" y="1470992"/>
            <a:ext cx="10096500" cy="4875694"/>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B</a:t>
            </a:r>
            <a:r>
              <a:rPr sz="2800" spc="-5" dirty="0">
                <a:latin typeface="Calibri"/>
                <a:cs typeface="Calibri"/>
              </a:rPr>
              <a:t>ased </a:t>
            </a:r>
            <a:r>
              <a:rPr lang="en-US" sz="2800" spc="-5" dirty="0">
                <a:latin typeface="Calibri"/>
                <a:cs typeface="Calibri"/>
              </a:rPr>
              <a:t>loosely </a:t>
            </a:r>
            <a:r>
              <a:rPr sz="2800" spc="-5" dirty="0">
                <a:latin typeface="Calibri"/>
                <a:cs typeface="Calibri"/>
              </a:rPr>
              <a:t>on</a:t>
            </a:r>
            <a:r>
              <a:rPr sz="2800" spc="5" dirty="0">
                <a:latin typeface="Calibri"/>
                <a:cs typeface="Calibri"/>
              </a:rPr>
              <a:t> </a:t>
            </a:r>
            <a:r>
              <a:rPr sz="2800" spc="-5" dirty="0">
                <a:latin typeface="Calibri"/>
                <a:cs typeface="Calibri"/>
              </a:rPr>
              <a:t>CMS</a:t>
            </a:r>
            <a:r>
              <a:rPr lang="en-US" sz="2800" spc="-5" dirty="0">
                <a:latin typeface="Calibri"/>
                <a:cs typeface="Calibri"/>
              </a:rPr>
              <a:t>A results</a:t>
            </a:r>
          </a:p>
          <a:p>
            <a:pPr marL="1384300" lvl="2"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841500" lvl="3" indent="-457834">
              <a:buFont typeface="Arial"/>
              <a:buChar char="•"/>
              <a:tabLst>
                <a:tab pos="926465" algn="l"/>
                <a:tab pos="927100" algn="l"/>
              </a:tabLst>
            </a:pPr>
            <a:r>
              <a:rPr lang="en-US" sz="2400" spc="-10" dirty="0">
                <a:latin typeface="Calibri"/>
                <a:cs typeface="Calibri"/>
              </a:rPr>
              <a:t>Fit a distribution to the CMSA results (bivariate lognormal)</a:t>
            </a:r>
          </a:p>
          <a:p>
            <a:pPr marL="1384300" marR="32384" lvl="2"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32032308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a:latin typeface="Times New Roman"/>
                <a:cs typeface="Times New Roman"/>
              </a:rPr>
              <a:t>r</a:t>
            </a:r>
            <a:r>
              <a:rPr sz="2400" i="1" spc="7" baseline="-21367" dirty="0">
                <a:latin typeface="Times New Roman"/>
                <a:cs typeface="Times New Roman"/>
              </a:rPr>
              <a:t>y </a:t>
            </a:r>
            <a:r>
              <a:rPr sz="2800" spc="-5" dirty="0">
                <a:latin typeface="Times New Roman"/>
                <a:cs typeface="Times New Roman"/>
              </a:rPr>
              <a:t>= (0 ,</a:t>
            </a:r>
            <a:r>
              <a:rPr sz="2800" spc="-90" dirty="0">
                <a:latin typeface="Times New Roman"/>
                <a:cs typeface="Times New Roman"/>
              </a:rPr>
              <a:t> </a:t>
            </a:r>
            <a:r>
              <a:rPr sz="2800" spc="-5" dirty="0">
                <a:latin typeface="Times New Roman"/>
                <a:cs typeface="Times New Roman"/>
              </a:rPr>
              <a:t>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2"/>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4823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904745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461CBC-F1CC-336A-E7E3-2A2472FFF38C}"/>
              </a:ext>
            </a:extLst>
          </p:cNvPr>
          <p:cNvSpPr>
            <a:spLocks noGrp="1"/>
          </p:cNvSpPr>
          <p:nvPr>
            <p:ph type="ctrTitle"/>
          </p:nvPr>
        </p:nvSpPr>
        <p:spPr>
          <a:xfrm>
            <a:off x="1524000" y="1804534"/>
            <a:ext cx="9144000" cy="2387600"/>
          </a:xfrm>
        </p:spPr>
        <p:txBody>
          <a:bodyPr>
            <a:normAutofit fontScale="90000"/>
          </a:bodyPr>
          <a:lstStyle/>
          <a:p>
            <a:r>
              <a:rPr lang="en-US" dirty="0"/>
              <a:t>A closer look at the ASMFC Horseshoe Crab management framework</a:t>
            </a:r>
          </a:p>
        </p:txBody>
      </p:sp>
    </p:spTree>
    <p:extLst>
      <p:ext uri="{BB962C8B-B14F-4D97-AF65-F5344CB8AC3E}">
        <p14:creationId xmlns:p14="http://schemas.microsoft.com/office/powerpoint/2010/main" val="560651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972767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8785846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351095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1180069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22308247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057043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stretch>
            <a:fillRect/>
          </a:stretch>
        </p:blipFill>
        <p:spPr>
          <a:xfrm>
            <a:off x="589119" y="1200610"/>
            <a:ext cx="10011225" cy="3305293"/>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a:p>
            <a:pPr marL="0" indent="0">
              <a:buNone/>
            </a:pPr>
            <a:r>
              <a:rPr lang="en-US" i="1" dirty="0"/>
              <a:t>Let’s build a REKN population model using </a:t>
            </a:r>
            <a:r>
              <a:rPr lang="en-US" i="1" dirty="0" err="1"/>
              <a:t>InsightMaker</a:t>
            </a:r>
            <a:endParaRPr lang="en-US" i="1" dirty="0"/>
          </a:p>
          <a:p>
            <a:endParaRPr lang="en-US" dirty="0"/>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lnSpcReduction="10000"/>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a:p>
            <a:pPr marL="0" indent="0">
              <a:buNone/>
            </a:pPr>
            <a:endParaRPr lang="en-US" sz="1200" dirty="0"/>
          </a:p>
          <a:p>
            <a:pPr marL="0" indent="0">
              <a:buNone/>
            </a:pPr>
            <a:r>
              <a:rPr lang="en-US" i="1" dirty="0"/>
              <a:t>Please work together to describe the results of your scenario tests, and what this might mean for regulating the harvest of horseshoe crabs in Delaware Bay. Does this result make sense, based on what you know about red knots?</a:t>
            </a:r>
          </a:p>
          <a:p>
            <a:pPr marL="514350" indent="-514350">
              <a:buFont typeface="+mj-lt"/>
              <a:buAutoNum type="arabicPeriod"/>
            </a:pPr>
            <a:endParaRPr lang="en-US" dirty="0"/>
          </a:p>
        </p:txBody>
      </p:sp>
    </p:spTree>
    <p:extLst>
      <p:ext uri="{BB962C8B-B14F-4D97-AF65-F5344CB8AC3E}">
        <p14:creationId xmlns:p14="http://schemas.microsoft.com/office/powerpoint/2010/main" val="23523112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https://insightmaker.com/insight/hoWpE5JlD9x5AaPHujVg4/Red-Knot-Matrix-Model</a:t>
            </a:r>
            <a:r>
              <a:rPr lang="en-US" dirty="0"/>
              <a:t> </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4200623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606830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27308468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78382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1782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11540332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extLst>
              <p:ext uri="{D42A27DB-BD31-4B8C-83A1-F6EECF244321}">
                <p14:modId xmlns:p14="http://schemas.microsoft.com/office/powerpoint/2010/main" val="257174628"/>
              </p:ext>
            </p:extLst>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name="SPW 6.0 Graph" r:id="rId3" imgW="5650992" imgH="4233672" progId="">
                  <p:embed/>
                </p:oleObj>
              </mc:Choice>
              <mc:Fallback>
                <p:oleObj name="SPW 6.0 Graph" r:id="rId3" imgW="5650992" imgH="4233672" progId="">
                  <p:embed/>
                  <p:pic>
                    <p:nvPicPr>
                      <p:cNvPr id="7" name="Object 3"/>
                      <p:cNvPicPr>
                        <a:picLocks noChangeAspect="1" noChangeArrowheads="1"/>
                      </p:cNvPicPr>
                      <p:nvPr/>
                    </p:nvPicPr>
                    <p:blipFill>
                      <a:blip r:embed="rId4">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6984238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16977100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411935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35304327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D64BE-97AF-6BD4-884F-D33A667AB701}"/>
              </a:ext>
            </a:extLst>
          </p:cNvPr>
          <p:cNvSpPr>
            <a:spLocks noGrp="1"/>
          </p:cNvSpPr>
          <p:nvPr>
            <p:ph type="title"/>
          </p:nvPr>
        </p:nvSpPr>
        <p:spPr/>
        <p:txBody>
          <a:bodyPr/>
          <a:lstStyle/>
          <a:p>
            <a:r>
              <a:rPr lang="en-US" dirty="0"/>
              <a:t>Fundamentals of population ecology (and statistics): error checking</a:t>
            </a:r>
          </a:p>
        </p:txBody>
      </p:sp>
      <p:sp>
        <p:nvSpPr>
          <p:cNvPr id="3" name="Content Placeholder 2">
            <a:extLst>
              <a:ext uri="{FF2B5EF4-FFF2-40B4-BE49-F238E27FC236}">
                <a16:creationId xmlns:a16="http://schemas.microsoft.com/office/drawing/2014/main" id="{E0B10B15-004F-3849-2A62-4BA35712F8F9}"/>
              </a:ext>
            </a:extLst>
          </p:cNvPr>
          <p:cNvSpPr>
            <a:spLocks noGrp="1"/>
          </p:cNvSpPr>
          <p:nvPr>
            <p:ph idx="1"/>
          </p:nvPr>
        </p:nvSpPr>
        <p:spPr/>
        <p:txBody>
          <a:bodyPr/>
          <a:lstStyle/>
          <a:p>
            <a:r>
              <a:rPr lang="en-US" dirty="0"/>
              <a:t>Does the model fit the training data?</a:t>
            </a:r>
          </a:p>
          <a:p>
            <a:pPr lvl="1"/>
            <a:r>
              <a:rPr lang="en-US" dirty="0"/>
              <a:t>Goodness of fit tests</a:t>
            </a:r>
          </a:p>
          <a:p>
            <a:pPr lvl="1"/>
            <a:r>
              <a:rPr lang="en-US" dirty="0"/>
              <a:t>Comparison with alternative and null models</a:t>
            </a:r>
          </a:p>
          <a:p>
            <a:pPr lvl="2"/>
            <a:r>
              <a:rPr lang="en-US" dirty="0"/>
              <a:t>AIC, R-squared, RMSE</a:t>
            </a:r>
          </a:p>
          <a:p>
            <a:endParaRPr lang="en-US" dirty="0"/>
          </a:p>
          <a:p>
            <a:r>
              <a:rPr lang="en-US" dirty="0"/>
              <a:t>Does the model fit independent testing data?</a:t>
            </a:r>
          </a:p>
          <a:p>
            <a:pPr lvl="1"/>
            <a:r>
              <a:rPr lang="en-US" dirty="0"/>
              <a:t>Can it be used for effective forecasting?</a:t>
            </a:r>
          </a:p>
          <a:p>
            <a:pPr lvl="1"/>
            <a:r>
              <a:rPr lang="en-US" dirty="0"/>
              <a:t>How does it compare to </a:t>
            </a:r>
            <a:r>
              <a:rPr lang="en-US" b="1" dirty="0"/>
              <a:t>null model </a:t>
            </a:r>
            <a:r>
              <a:rPr lang="en-US" dirty="0"/>
              <a:t>benchmarks?</a:t>
            </a:r>
          </a:p>
          <a:p>
            <a:pPr lvl="2"/>
            <a:r>
              <a:rPr lang="en-US" dirty="0"/>
              <a:t>RMSE, bias</a:t>
            </a:r>
          </a:p>
        </p:txBody>
      </p:sp>
    </p:spTree>
    <p:extLst>
      <p:ext uri="{BB962C8B-B14F-4D97-AF65-F5344CB8AC3E}">
        <p14:creationId xmlns:p14="http://schemas.microsoft.com/office/powerpoint/2010/main" val="7695879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9776333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863773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9302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9741</TotalTime>
  <Words>2147</Words>
  <Application>Microsoft Office PowerPoint</Application>
  <PresentationFormat>Widescreen</PresentationFormat>
  <Paragraphs>268</Paragraphs>
  <Slides>51</Slides>
  <Notes>9</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51</vt:i4>
      </vt:variant>
    </vt:vector>
  </HeadingPairs>
  <TitlesOfParts>
    <vt:vector size="58" baseType="lpstr">
      <vt:lpstr>Arial</vt:lpstr>
      <vt:lpstr>Calibri</vt:lpstr>
      <vt:lpstr>Calibri Light</vt:lpstr>
      <vt:lpstr>Cambria Math</vt:lpstr>
      <vt:lpstr>Times New Roman</vt:lpstr>
      <vt:lpstr>Office Theme</vt:lpstr>
      <vt:lpstr>SPW 6.0 Graph</vt:lpstr>
      <vt:lpstr>Population Viability Analysis (PVA)</vt:lpstr>
      <vt:lpstr>PVA challenges and opportunities </vt:lpstr>
      <vt:lpstr>Case study: gopher tortoise Species Status Assessment</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Monitoring data</vt:lpstr>
      <vt:lpstr>PowerPoint Presentation</vt:lpstr>
      <vt:lpstr>Revised ARM Conceptual Model</vt:lpstr>
      <vt:lpstr>CMSA Results – Female Horseshoe Crabs</vt:lpstr>
      <vt:lpstr>Red Knot IPM – Survival and Recruitment</vt:lpstr>
      <vt:lpstr>Red Knot IPM – Covariate Effects</vt:lpstr>
      <vt:lpstr>Red Knot IPM – Covariate Effects</vt:lpstr>
      <vt:lpstr>Population Projection Models (simulations)</vt:lpstr>
      <vt:lpstr>Results: Predicted population sizes</vt:lpstr>
      <vt:lpstr>Results: Predicted population sizes</vt:lpstr>
      <vt:lpstr>‘Reward' Function for optimization</vt:lpstr>
      <vt:lpstr>Example Harvest Recommendation</vt:lpstr>
      <vt:lpstr>PowerPoint Presentation</vt:lpstr>
      <vt:lpstr>A closer look at the ASMFC Horseshoe Crab management framework</vt:lpstr>
      <vt:lpstr>Red Knot model</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lpstr>Two-stage population model for Red Knot:</vt:lpstr>
      <vt:lpstr>PowerPoint Presentation</vt:lpstr>
      <vt:lpstr>Red Knot (REKN) population model specification</vt:lpstr>
      <vt:lpstr>REKN scenario tests (group activity)</vt:lpstr>
      <vt:lpstr>(In class exercise)</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Fundamentals of population ecology (and statistics): error checking</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Shoemaker</cp:lastModifiedBy>
  <cp:revision>444</cp:revision>
  <dcterms:created xsi:type="dcterms:W3CDTF">2016-09-20T20:11:05Z</dcterms:created>
  <dcterms:modified xsi:type="dcterms:W3CDTF">2024-04-02T03:43:59Z</dcterms:modified>
</cp:coreProperties>
</file>