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54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D907F-D4A4-44F4-89C5-AC0A0114D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931B4-356C-4FDB-A3FB-F0754CE90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89DA-9CE3-4FA8-89B0-8F83610D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08A32-2302-459B-915B-F7122967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CE409-B002-4DEC-A499-0BF8317A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7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AFA1-6EC2-4D81-A67D-65A1B524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612F-E281-4DBD-9EF6-E68B4A611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7A8C8-717D-45BF-8390-0496C395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E8259-6A90-4B34-B144-E909683D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67365-0767-4B77-A9B3-9DF5B115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5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D531-9D62-4C0E-8D02-900DF5B3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6CDE7-CBCA-48F1-AC83-604BA7FB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1174A-F833-4528-A8F5-321B2E9C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94A3C-4F3E-45FB-8A6B-A4CC4A742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47DDB-5CDC-4F73-B702-03265BB4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5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4CD4-4266-42A5-B656-021EF5C6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26FD-67D7-46C8-8221-4C633CE5D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B0391-9835-41AE-906C-BA5FD1B2F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57A36-3781-4B75-A8E9-ABF62B43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B3795-159C-454A-B668-2AB82EF3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5547A-74A1-4757-B801-7F978152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6A06-D0FC-43E6-89B9-F72370D9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DECC-659F-4DBF-9BFA-C6F85498F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BA4B1-8F6E-42BC-A3BA-3301F599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68F50-B1D7-4492-A371-4D4351EA0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BBE57-9FC4-46FF-B752-63D196AD7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25BD4-E8D1-46F6-9E05-1D38E1B3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9E968-439E-4289-A162-DD04B619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70D95-F299-490F-BEBB-02232CF8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EA03-5664-48EC-9880-C93BAB3C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7486A-6979-4EDA-9367-02CAE27B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C3542-D7B3-417A-82C8-CFD813F6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9EE4E-BBB4-4687-B34D-585DF974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0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89DA4-FE31-472A-8B3E-09F5AE214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45852-DB23-41CE-96C9-283B5769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CF413-559C-4800-ACBB-F63312DB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3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660D-AEB9-4949-8468-720D78A7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3E4C-8E53-4765-8E1B-4AB6671CA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BE145-7CF7-41F8-B0B9-9E4AFACDE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7BDEA-25E9-4470-A41A-5C5289900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C6FB7-4D1A-466E-9CA6-64668630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0541-DA87-4068-9625-5A46E3BE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08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1EB5-3724-406D-9E2D-9E5F0EF0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98879-CCAB-4326-B417-090B2D3B8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97E45-354C-42F8-8422-1613FA68A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1BA6D-9868-49B0-B778-41D24CC5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F33A5-DA4E-4F7E-8AE0-A1A81C16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AA9B0-B503-4899-8C6F-DB923DAB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1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3999-5AB9-46D1-9333-58D6FFF2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59076-52E6-4E46-97F8-A48893E7A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296FB-844E-4D70-BCCA-062B452A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244C-49E3-422A-971C-8E9078BB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5211-CB3C-45F2-85C2-DB721340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7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62C7F-B89A-4085-82C8-FA4745562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99D12-3369-440A-817D-E7A12D8DD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0C0DE-C905-4315-A33E-7129BE6E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BC92-3CC3-4E25-B2C1-6C2EA5A4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A66D-F16A-4D72-AFC6-F78D58DE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6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75AD1-A154-4CD7-8273-5F1EC20D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913C9-0B33-4636-AA99-58AF1D20A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A7373-F98E-467A-895E-C2E117236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A889D-968F-44F9-BE24-1C3BBAA54BC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33A0F-5E26-4E1E-A33F-BAB6E1E4F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56B1-9D8F-42A1-AB46-05D4130B4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A7A2-8766-46B7-B306-372D88F69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6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16A8-32B7-4DBB-B98D-58C9F5AE31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Kevin Shoemaker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A0479-78E1-4A42-B583-989821B28D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Research Day 2026</a:t>
            </a:r>
          </a:p>
        </p:txBody>
      </p:sp>
    </p:spTree>
    <p:extLst>
      <p:ext uri="{BB962C8B-B14F-4D97-AF65-F5344CB8AC3E}">
        <p14:creationId xmlns:p14="http://schemas.microsoft.com/office/powerpoint/2010/main" val="68142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FB4E-DFBA-4AF9-B4A4-B800CE42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3E8A6-A196-43CE-B247-355C1E22E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Conservation modeling</a:t>
            </a:r>
          </a:p>
          <a:p>
            <a:pPr lvl="1"/>
            <a:r>
              <a:rPr lang="en-US" dirty="0"/>
              <a:t>Estimation of population and metapopulation ‘vital rates’</a:t>
            </a:r>
          </a:p>
          <a:p>
            <a:pPr lvl="2"/>
            <a:r>
              <a:rPr lang="en-US" dirty="0"/>
              <a:t>Survival, movement, occupancy, recruitment, population growth, occupancy trends</a:t>
            </a:r>
          </a:p>
          <a:p>
            <a:pPr lvl="2"/>
            <a:r>
              <a:rPr lang="en-US" dirty="0"/>
              <a:t>“Messy” data: capture-recapture, telemetry, occupancy surveys</a:t>
            </a:r>
          </a:p>
          <a:p>
            <a:pPr lvl="1"/>
            <a:r>
              <a:rPr lang="en-US" dirty="0"/>
              <a:t>Synthesize into matrix population models or more complex stochastic simulations (Population Viability Analysis, or PVA)</a:t>
            </a:r>
          </a:p>
          <a:p>
            <a:pPr lvl="1"/>
            <a:r>
              <a:rPr lang="en-US" dirty="0"/>
              <a:t>Scenario tests to perform status assessments, rank conservation and management interventions, etc.</a:t>
            </a:r>
          </a:p>
          <a:p>
            <a:r>
              <a:rPr lang="en-US" dirty="0"/>
              <a:t>Collaborations with other NRES faculty: </a:t>
            </a:r>
          </a:p>
          <a:p>
            <a:pPr lvl="1"/>
            <a:r>
              <a:rPr lang="en-US" dirty="0"/>
              <a:t>Active ongoing work with Stewart, </a:t>
            </a:r>
            <a:r>
              <a:rPr lang="en-US" dirty="0" err="1"/>
              <a:t>Matocq</a:t>
            </a:r>
            <a:r>
              <a:rPr lang="en-US" dirty="0"/>
              <a:t>, </a:t>
            </a:r>
            <a:r>
              <a:rPr lang="en-US" dirty="0" err="1"/>
              <a:t>Bisbing</a:t>
            </a:r>
            <a:r>
              <a:rPr lang="en-US" dirty="0"/>
              <a:t> labs (also Chandra and </a:t>
            </a:r>
            <a:r>
              <a:rPr lang="en-US" dirty="0" err="1"/>
              <a:t>Nussear</a:t>
            </a:r>
            <a:r>
              <a:rPr lang="en-US" dirty="0"/>
              <a:t> labs). Potential near-term projects with Cushman, Williams labs. 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94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40F6-4931-6F94-7687-C8A8C9A1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Assessing the rangewide conservation status and conservation needs for the gopher tortoise (</a:t>
            </a:r>
            <a:r>
              <a:rPr lang="en-US" sz="4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Gopherus polyphemus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13CBE-7E6C-EC57-1610-97FEA5199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5199"/>
            <a:ext cx="6254750" cy="39417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idespread but declining ecosystem engineer of the southeastern USA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 projects: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 matrix-based assessment of growth potential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Rangewide PVA to inform future listing decisions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Collaborators: Kevin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Loope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Elizabeth Hunter, Virginia Tech. </a:t>
            </a:r>
          </a:p>
          <a:p>
            <a:r>
              <a:rPr lang="en-US" dirty="0"/>
              <a:t>Funding: Center for Biological Diversity</a:t>
            </a:r>
          </a:p>
        </p:txBody>
      </p:sp>
      <p:pic>
        <p:nvPicPr>
          <p:cNvPr id="4" name="Google Shape;91;p13">
            <a:extLst>
              <a:ext uri="{FF2B5EF4-FFF2-40B4-BE49-F238E27FC236}">
                <a16:creationId xmlns:a16="http://schemas.microsoft.com/office/drawing/2014/main" id="{597EA312-F205-45A0-B494-A3F276F13846}"/>
              </a:ext>
            </a:extLst>
          </p:cNvPr>
          <p:cNvPicPr preferRelativeResize="0"/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769" y="3024188"/>
            <a:ext cx="4291270" cy="26901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5F131450-DB84-442C-B362-BFA56F1F6547}"/>
              </a:ext>
            </a:extLst>
          </p:cNvPr>
          <p:cNvSpPr txBox="1"/>
          <p:nvPr/>
        </p:nvSpPr>
        <p:spPr>
          <a:xfrm>
            <a:off x="9142810" y="5714377"/>
            <a:ext cx="3049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https://commons.wikimedia.org/</a:t>
            </a:r>
          </a:p>
        </p:txBody>
      </p:sp>
    </p:spTree>
    <p:extLst>
      <p:ext uri="{BB962C8B-B14F-4D97-AF65-F5344CB8AC3E}">
        <p14:creationId xmlns:p14="http://schemas.microsoft.com/office/powerpoint/2010/main" val="2318932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C66E-FE47-9471-9A4C-A7B352EB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46281-937B-BDDC-938D-D120F980D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0428DA-703B-F440-11C8-6D2E5FA77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365125"/>
            <a:ext cx="8718550" cy="581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46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3E39-6398-83A4-6952-6FF7F31B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07A6-FD55-6BBB-0278-B74A8175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F12AC0-4208-78EE-6027-461758270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7" y="365125"/>
            <a:ext cx="8717757" cy="581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90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E528-2791-9703-DE92-BE0DB851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69050" cy="2016125"/>
          </a:xfrm>
        </p:spPr>
        <p:txBody>
          <a:bodyPr>
            <a:normAutofit fontScale="90000"/>
          </a:bodyPr>
          <a:lstStyle/>
          <a:p>
            <a:r>
              <a:rPr lang="en-US" dirty="0"/>
              <a:t>Eggs to Knots: measuring the demographic link between horseshoe crabs and red knots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5F2CC-1429-D901-C34E-D6174F867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150"/>
            <a:ext cx="6496050" cy="3452812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Horseshoe crab eggs form the primary food resource at key coastal migratory staging areas.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Goal: link beach restoration to increased HSC eggs to red knot population growth!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Collaborators: Larry Niles, Amanda Dey (Wildlife Restoration Partnerships)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Funding: NFWF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4" descr="The Flyways — RED KNOTS">
            <a:extLst>
              <a:ext uri="{FF2B5EF4-FFF2-40B4-BE49-F238E27FC236}">
                <a16:creationId xmlns:a16="http://schemas.microsoft.com/office/drawing/2014/main" id="{5E44BA16-66DE-1410-6696-31475EE922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4" t="8528" r="63521"/>
          <a:stretch/>
        </p:blipFill>
        <p:spPr bwMode="auto">
          <a:xfrm>
            <a:off x="8689789" y="463059"/>
            <a:ext cx="3146612" cy="593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d Knot ♂ (Tringa Canutus) | Free Photo Illustration - rawpixel">
            <a:extLst>
              <a:ext uri="{FF2B5EF4-FFF2-40B4-BE49-F238E27FC236}">
                <a16:creationId xmlns:a16="http://schemas.microsoft.com/office/drawing/2014/main" id="{62D9F3DC-3966-4137-4F04-9248045130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7" t="21586" r="16771" b="31921"/>
          <a:stretch/>
        </p:blipFill>
        <p:spPr bwMode="auto">
          <a:xfrm>
            <a:off x="7797800" y="4502150"/>
            <a:ext cx="188595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45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379F-C0D5-E6D1-F9FE-E88567E1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6473-D12E-D6BB-58B3-9FEE4E3E6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Quantifying the role of prairie dog colonies as positive or negative drivers of rangeland biodiversity and livestock production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ollaboration with Colorado State University. 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Assessing rangewide threats and recovery potential for the Mojave desert tortoise 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ollaborations with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Nussear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lab (Geography), others.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Assessing the viability of the Summit Lake population of Lahontan Cutthroat Trout – one of two remaining native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adfluvial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populations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Collaboration with Chandra lab (Biology), Summit Lake Paiute Tribe, others.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53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C10F-FD2D-CA34-470A-7C8B27A6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A4A4-CF8C-3B04-AAA1-29B39B31F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85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315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Kevin Shoemaker</vt:lpstr>
      <vt:lpstr>Research overview</vt:lpstr>
      <vt:lpstr>Assessing the rangewide conservation status and conservation needs for the gopher tortoise (Gopherus polyphemus) –</vt:lpstr>
      <vt:lpstr>PowerPoint Presentation</vt:lpstr>
      <vt:lpstr>PowerPoint Presentation</vt:lpstr>
      <vt:lpstr>Eggs to Knots: measuring the demographic link between horseshoe crabs and red knots </vt:lpstr>
      <vt:lpstr>Other projects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Kevin Shoemaker</dc:title>
  <dc:creator>Kevin T Shoemaker</dc:creator>
  <cp:lastModifiedBy>Kevin T Shoemaker</cp:lastModifiedBy>
  <cp:revision>11</cp:revision>
  <dcterms:created xsi:type="dcterms:W3CDTF">2026-05-13T22:07:22Z</dcterms:created>
  <dcterms:modified xsi:type="dcterms:W3CDTF">2026-05-14T03:19:13Z</dcterms:modified>
</cp:coreProperties>
</file>